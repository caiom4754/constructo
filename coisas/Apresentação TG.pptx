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itemProps2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5.xml" ContentType="application/vnd.openxmlformats-officedocument.them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jpeg" ContentType="image/jpe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ECAC7CD-5776-4A51-9B90-C8C8DA3F7935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JAQUE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DANI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JAQUE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Layout Personaliz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2506EF-315D-43D2-AD9F-F349DAE9A1BE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1;p8" descr="GGFD2166TRA Raw.tif"/>
          <p:cNvPicPr/>
          <p:nvPr/>
        </p:nvPicPr>
        <p:blipFill>
          <a:blip r:embed="rId2"/>
          <a:srcRect l="361" t="2149" r="9181" b="11113"/>
          <a:stretch/>
        </p:blipFill>
        <p:spPr>
          <a:xfrm>
            <a:off x="0" y="0"/>
            <a:ext cx="12190680" cy="59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BABC17-5B9C-40D4-B1B2-EB76DBB85ACC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Google Shape;25;p8" descr=""/>
          <p:cNvPicPr/>
          <p:nvPr/>
        </p:nvPicPr>
        <p:blipFill>
          <a:blip r:embed="rId3"/>
          <a:stretch/>
        </p:blipFill>
        <p:spPr>
          <a:xfrm>
            <a:off x="0" y="5464440"/>
            <a:ext cx="12190680" cy="1392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Slide de títu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27;p9" descr="GGFD2166TRA Raw.tif"/>
          <p:cNvPicPr/>
          <p:nvPr/>
        </p:nvPicPr>
        <p:blipFill>
          <a:blip r:embed="rId2"/>
          <a:srcRect l="361" t="2152" r="9181" b="13213"/>
          <a:stretch/>
        </p:blipFill>
        <p:spPr>
          <a:xfrm>
            <a:off x="0" y="0"/>
            <a:ext cx="12190680" cy="580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D44480-8D05-4CAA-B0DE-C536110897C8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Google Shape;31;p9" descr=""/>
          <p:cNvPicPr/>
          <p:nvPr/>
        </p:nvPicPr>
        <p:blipFill>
          <a:blip r:embed="rId3"/>
          <a:stretch/>
        </p:blipFill>
        <p:spPr>
          <a:xfrm>
            <a:off x="0" y="5465160"/>
            <a:ext cx="12190680" cy="1391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Layout Personaliz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3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8C5FB2-A241-48C0-A78A-94B47DF94A5E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" name="Google Shape;43;p11" descr=""/>
          <p:cNvPicPr/>
          <p:nvPr/>
        </p:nvPicPr>
        <p:blipFill>
          <a:blip r:embed="rId2"/>
          <a:stretch/>
        </p:blipFill>
        <p:spPr>
          <a:xfrm>
            <a:off x="0" y="5464800"/>
            <a:ext cx="12190680" cy="1391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48;p1"/>
          <p:cNvSpPr/>
          <p:nvPr/>
        </p:nvSpPr>
        <p:spPr>
          <a:xfrm>
            <a:off x="1080" y="617616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27" name="Google Shape;49;p1"/>
          <p:cNvSpPr/>
          <p:nvPr/>
        </p:nvSpPr>
        <p:spPr>
          <a:xfrm>
            <a:off x="361080" y="59760"/>
            <a:ext cx="6991920" cy="85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" name="Google Shape;50;p1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29" name="Google Shape;51;p1"/>
          <p:cNvSpPr/>
          <p:nvPr/>
        </p:nvSpPr>
        <p:spPr>
          <a:xfrm>
            <a:off x="263520" y="6223680"/>
            <a:ext cx="115012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2;p1"/>
          <p:cNvSpPr/>
          <p:nvPr/>
        </p:nvSpPr>
        <p:spPr>
          <a:xfrm>
            <a:off x="374040" y="516600"/>
            <a:ext cx="1477080" cy="84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Google Shape;53;p1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m 4" descr=""/>
          <p:cNvPicPr/>
          <p:nvPr/>
        </p:nvPicPr>
        <p:blipFill>
          <a:blip r:embed="rId2"/>
          <a:srcRect l="16164" t="34756" r="15818" b="19974"/>
          <a:stretch/>
        </p:blipFill>
        <p:spPr>
          <a:xfrm>
            <a:off x="3678480" y="2407320"/>
            <a:ext cx="4670640" cy="204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61;g2e736680e3d_0_0"/>
          <p:cNvSpPr/>
          <p:nvPr/>
        </p:nvSpPr>
        <p:spPr>
          <a:xfrm>
            <a:off x="1080" y="618696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34" name="Google Shape;62;g2e736680e3d_0_0"/>
          <p:cNvSpPr/>
          <p:nvPr/>
        </p:nvSpPr>
        <p:spPr>
          <a:xfrm>
            <a:off x="361080" y="59760"/>
            <a:ext cx="6991920" cy="85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" name="Google Shape;63;g2e736680e3d_0_0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36" name="Google Shape;64;g2e736680e3d_0_0"/>
          <p:cNvSpPr/>
          <p:nvPr/>
        </p:nvSpPr>
        <p:spPr>
          <a:xfrm>
            <a:off x="360000" y="4500000"/>
            <a:ext cx="3599280" cy="8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Caio da Mata Martins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trike="noStrike" u="non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caio.martisn11@fatec.sp.gov.br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65;g2e736680e3d_0_0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66;g2e736680e3d_0_0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Google Shape;67;g2e736680e3d_0_0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2" descr=""/>
          <p:cNvPicPr/>
          <p:nvPr/>
        </p:nvPicPr>
        <p:blipFill>
          <a:blip r:embed="rId2"/>
          <a:srcRect l="0" t="4663" r="0" b="14675"/>
          <a:stretch/>
        </p:blipFill>
        <p:spPr>
          <a:xfrm>
            <a:off x="540000" y="1800000"/>
            <a:ext cx="1936440" cy="277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"/>
          <p:cNvSpPr/>
          <p:nvPr/>
        </p:nvSpPr>
        <p:spPr>
          <a:xfrm>
            <a:off x="7560000" y="1764360"/>
            <a:ext cx="4281480" cy="23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Orientador</a:t>
            </a:r>
            <a:r>
              <a:rPr b="0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Prof. Rubens Araújo Menezes de Souza Filho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Curso: 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Tecnologia em Sistemas para internet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FATEC São Roque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886560" y="4431600"/>
            <a:ext cx="3132720" cy="75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Vinícius Venâncio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2000" strike="noStrike" u="non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@fatec.sp.gov.br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97;g2da54814955_1_4"/>
          <p:cNvSpPr/>
          <p:nvPr/>
        </p:nvSpPr>
        <p:spPr>
          <a:xfrm>
            <a:off x="1080" y="618768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44" name="Google Shape;98;g2da54814955_1_4"/>
          <p:cNvSpPr/>
          <p:nvPr/>
        </p:nvSpPr>
        <p:spPr>
          <a:xfrm>
            <a:off x="361080" y="59760"/>
            <a:ext cx="7050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" name="Google Shape;99;g2da54814955_1_4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46" name="Google Shape;100;g2da54814955_1_4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101;g2da54814955_1_4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Google Shape;102;g2da54814955_1_4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Google Shape;104;g2da54814955_1_4"/>
          <p:cNvSpPr/>
          <p:nvPr/>
        </p:nvSpPr>
        <p:spPr>
          <a:xfrm>
            <a:off x="374040" y="1360800"/>
            <a:ext cx="7794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Apresentação do Projeto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60000" y="2160000"/>
            <a:ext cx="11519640" cy="37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- O Constructo é um protótipo de aplicação web desenvolvido com o objetivo de democratizar o acesso ao planejamento básico de construções residenciais.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- Voltado ao público leigo, o sistema permite criar plantas baixas simples e estimar automaticamente os materiais necessários à obra, como blocos, cimento, areia e água.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- O projeto parte da premissa de que o acesso a ferramentas de planejamento pode contribuir diretamente para o enfrentamento do déficit habitacional e para a melhoria das condições de moradia da população.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112;g2da54814955_1_37"/>
          <p:cNvSpPr/>
          <p:nvPr/>
        </p:nvSpPr>
        <p:spPr>
          <a:xfrm>
            <a:off x="0" y="6186960"/>
            <a:ext cx="1219176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52" name="Google Shape;113;g2da54814955_1_37"/>
          <p:cNvSpPr/>
          <p:nvPr/>
        </p:nvSpPr>
        <p:spPr>
          <a:xfrm>
            <a:off x="361080" y="59760"/>
            <a:ext cx="70214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Google Shape;114;g2da54814955_1_37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54" name="Google Shape;115;g2da54814955_1_37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116;g2da54814955_1_37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Google Shape;117;g2da54814955_1_37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Google Shape;119;g2da54814955_1_37"/>
          <p:cNvSpPr/>
          <p:nvPr/>
        </p:nvSpPr>
        <p:spPr>
          <a:xfrm>
            <a:off x="374040" y="1360800"/>
            <a:ext cx="7794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Funcionalidades Principais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263520" y="1620000"/>
            <a:ext cx="11796120" cy="455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5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Criação de projetos com nome, altura de parede, tipo de bloco e elementos construtivos.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Inserção de portas e janelas com dimensões e quantidades.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Desenho vetorial da planta baixa, com medição por teorema de Pitágoras.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Cálculo automático da área útil de parede.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Estimativa de materiais: blocos, cimento, areia e água.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Armazenamento e recuperação de projetos em banco de dados.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Interface simples para uso via navegador, com foco na clareza visual.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24;g2da54814955_3_5"/>
          <p:cNvSpPr/>
          <p:nvPr/>
        </p:nvSpPr>
        <p:spPr>
          <a:xfrm>
            <a:off x="0" y="6246720"/>
            <a:ext cx="12191760" cy="6469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60" name="Google Shape;125;g2da54814955_3_5"/>
          <p:cNvSpPr/>
          <p:nvPr/>
        </p:nvSpPr>
        <p:spPr>
          <a:xfrm>
            <a:off x="361080" y="59760"/>
            <a:ext cx="71690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" name="Google Shape;126;g2da54814955_3_5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62" name="Google Shape;127;g2da54814955_3_5"/>
          <p:cNvSpPr/>
          <p:nvPr/>
        </p:nvSpPr>
        <p:spPr>
          <a:xfrm>
            <a:off x="263520" y="623664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28;g2da54814955_3_5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Google Shape;129;g2da54814955_3_5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Google Shape;131;g2da54814955_3_5"/>
          <p:cNvSpPr/>
          <p:nvPr/>
        </p:nvSpPr>
        <p:spPr>
          <a:xfrm>
            <a:off x="374040" y="1360800"/>
            <a:ext cx="7794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Tecnologias Utilizadas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900000" y="2700000"/>
            <a:ext cx="180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446040" y="2272680"/>
            <a:ext cx="5385600" cy="31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Frontend: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HTML5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CSS3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JavaScript (sem bibliotecas externas)</a:t>
            </a:r>
            <a:br>
              <a:rPr sz="2600"/>
            </a:br>
            <a:br>
              <a:rPr sz="2600"/>
            </a:b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Backend: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PHP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API RESTful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168240" y="2268000"/>
            <a:ext cx="5711760" cy="28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Banco de Dados: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MySQL (uso de JSON para armazenar estruturas vetoriais e atributos dos projetos)</a:t>
            </a:r>
            <a:br>
              <a:rPr sz="2600"/>
            </a:br>
            <a:br>
              <a:rPr sz="2600"/>
            </a:b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Ambiente de Desenvolvimento: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XAMPP (Apache, PHP, MySQL)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36;g2da54814955_3_16"/>
          <p:cNvSpPr/>
          <p:nvPr/>
        </p:nvSpPr>
        <p:spPr>
          <a:xfrm>
            <a:off x="1080" y="615600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70" name="Google Shape;137;g2da54814955_3_16"/>
          <p:cNvSpPr/>
          <p:nvPr/>
        </p:nvSpPr>
        <p:spPr>
          <a:xfrm>
            <a:off x="361080" y="59760"/>
            <a:ext cx="749340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38;g2da54814955_3_16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72" name="Google Shape;139;g2da54814955_3_16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40;g2da54814955_3_16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Google Shape;141;g2da54814955_3_16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4903200" y="3126960"/>
            <a:ext cx="247644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30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Demonstração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284;g2da54814955_3_58"/>
          <p:cNvSpPr/>
          <p:nvPr/>
        </p:nvSpPr>
        <p:spPr>
          <a:xfrm>
            <a:off x="0" y="6120000"/>
            <a:ext cx="12191760" cy="77364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77" name="Google Shape;285;g2da54814955_3_58"/>
          <p:cNvSpPr/>
          <p:nvPr/>
        </p:nvSpPr>
        <p:spPr>
          <a:xfrm>
            <a:off x="361080" y="59760"/>
            <a:ext cx="68936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" name="Google Shape;286;g2da54814955_3_58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79" name="Google Shape;287;g2da54814955_3_58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288;g2da54814955_3_58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Google Shape;289;g2da54814955_3_58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Google Shape;290;g2da54814955_3_58"/>
          <p:cNvSpPr/>
          <p:nvPr/>
        </p:nvSpPr>
        <p:spPr>
          <a:xfrm>
            <a:off x="801360" y="1875600"/>
            <a:ext cx="10718280" cy="40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t-BR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Cálculo entre 2 pontos (com coordenadas)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Comprimento = Math.sqrt(Math.pow(endX-startX,2)+Math.pow(endY-startY,2)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Conversão de Coordenadas para Metros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Calibri"/>
              </a:rPr>
              <a:t>comprimento / tamanhoQuadrado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Calculo área das Aberturas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areaTotalAberturas += largura * altura * quantidade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Cálculo dos Blocos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areaTotalAberturas = calcularAreaAberturas();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areaParede = (calcularComprimentoParede() * alturaParede) - areaTotalAberturas;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areaBloco = dimensoesBloco.comprimento * dimensoesBloco.altura;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numeroBlocos = Math.ceil(areaParede / areaBloco);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291;g2da54814955_3_58"/>
          <p:cNvSpPr/>
          <p:nvPr/>
        </p:nvSpPr>
        <p:spPr>
          <a:xfrm>
            <a:off x="374040" y="1360800"/>
            <a:ext cx="9282600" cy="7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Cálculos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36;g2da54814955_3_ 1"/>
          <p:cNvSpPr/>
          <p:nvPr/>
        </p:nvSpPr>
        <p:spPr>
          <a:xfrm>
            <a:off x="1080" y="6223680"/>
            <a:ext cx="12190680" cy="63900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85" name="Google Shape;139;g2da54814955_3_ 1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284;g2da54814955_3_58"/>
          <p:cNvSpPr/>
          <p:nvPr/>
        </p:nvSpPr>
        <p:spPr>
          <a:xfrm>
            <a:off x="1080" y="615600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87" name="Google Shape;285;g2da54814955_3_58"/>
          <p:cNvSpPr/>
          <p:nvPr/>
        </p:nvSpPr>
        <p:spPr>
          <a:xfrm>
            <a:off x="361080" y="59760"/>
            <a:ext cx="68936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Google Shape;286;g2da54814955_3_58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89" name="Google Shape;287;g2da54814955_3_58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288;g2da54814955_3_58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Google Shape;289;g2da54814955_3_58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Google Shape;290;g2da54814955_3_58"/>
          <p:cNvSpPr/>
          <p:nvPr/>
        </p:nvSpPr>
        <p:spPr>
          <a:xfrm>
            <a:off x="801360" y="1875600"/>
            <a:ext cx="10538280" cy="40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Consumo de argamassa (L/bloco): Varia conforme a espessura da junta.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Traço da argamassa (cimento:areia): Define a proporção de materiais na mistura.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Relação Água/Cimento (L/kg): Indica quantos litros de água são necessários por kg de cimento, considerando a absorção do bloco.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291;g2da54814955_3_58"/>
          <p:cNvSpPr/>
          <p:nvPr/>
        </p:nvSpPr>
        <p:spPr>
          <a:xfrm>
            <a:off x="374040" y="1360800"/>
            <a:ext cx="9282600" cy="7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Cálculos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284;g2da54814955_3_ 1"/>
          <p:cNvSpPr/>
          <p:nvPr/>
        </p:nvSpPr>
        <p:spPr>
          <a:xfrm>
            <a:off x="1080" y="616896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95" name="Google Shape;285;g2da54814955_3_ 2"/>
          <p:cNvSpPr/>
          <p:nvPr/>
        </p:nvSpPr>
        <p:spPr>
          <a:xfrm>
            <a:off x="361080" y="59760"/>
            <a:ext cx="68936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Google Shape;286;g2da54814955_3_ 2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97" name="Google Shape;287;g2da54814955_3_ 2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288;g2da54814955_3_ 2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Google Shape;289;g2da54814955_3_ 2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Google Shape;290;g2da54814955_3_ 2"/>
          <p:cNvSpPr/>
          <p:nvPr/>
        </p:nvSpPr>
        <p:spPr>
          <a:xfrm>
            <a:off x="801360" y="1875600"/>
            <a:ext cx="11258280" cy="40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343080" indent="-34308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Volume Argamassa: 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numBlocos * params.consumoArgamassa;  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Volume Cimento: 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volumeArgamassa / (params.traco.cimento + params.traco.areia); 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Cimento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: (volumeCimento / 0.0357 * 1.1).toFixed(1) ,      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Areia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: (volumeArgamassa * (params.traco.areia / (params.traco.cimento + params.traco.areia)) * 1.1).toFixed(3),        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Água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: (volumeCimento * 1400 * params.relacaoAC * 1.1).toFixed(1) </a:t>
            </a: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291;g2da54814955_3_ 2"/>
          <p:cNvSpPr/>
          <p:nvPr/>
        </p:nvSpPr>
        <p:spPr>
          <a:xfrm>
            <a:off x="374040" y="1360800"/>
            <a:ext cx="9282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Cálculos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284;g2da54814955_3_58"/>
          <p:cNvSpPr/>
          <p:nvPr/>
        </p:nvSpPr>
        <p:spPr>
          <a:xfrm>
            <a:off x="1080" y="615600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03" name="Google Shape;285;g2da54814955_3_58"/>
          <p:cNvSpPr/>
          <p:nvPr/>
        </p:nvSpPr>
        <p:spPr>
          <a:xfrm>
            <a:off x="361080" y="59760"/>
            <a:ext cx="68936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Google Shape;286;g2da54814955_3_58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05" name="Google Shape;287;g2da54814955_3_58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288;g2da54814955_3_58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Google Shape;289;g2da54814955_3_58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Google Shape;291;g2da54814955_3_58"/>
          <p:cNvSpPr/>
          <p:nvPr/>
        </p:nvSpPr>
        <p:spPr>
          <a:xfrm>
            <a:off x="374040" y="1360800"/>
            <a:ext cx="11376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Estrutura dos Projetos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1317600" y="2340000"/>
            <a:ext cx="8942040" cy="30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Cada projeto é armazenado com os seguintes elementos: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alturaParede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tipoBloco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stack (linhas desenhadas com coordenadas vetoriais)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portasJanelas (lista de objetos com largura, altura e quantidade)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284;g2da54814955_3_ 2"/>
          <p:cNvSpPr/>
          <p:nvPr/>
        </p:nvSpPr>
        <p:spPr>
          <a:xfrm>
            <a:off x="1080" y="615600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11" name="Google Shape;285;g2da54814955_3_ 3"/>
          <p:cNvSpPr/>
          <p:nvPr/>
        </p:nvSpPr>
        <p:spPr>
          <a:xfrm>
            <a:off x="361080" y="59760"/>
            <a:ext cx="68936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Google Shape;286;g2da54814955_3_ 3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13" name="Google Shape;287;g2da54814955_3_ 3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288;g2da54814955_3_ 3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289;g2da54814955_3_ 3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Google Shape;291;g2da54814955_3_ 3"/>
          <p:cNvSpPr/>
          <p:nvPr/>
        </p:nvSpPr>
        <p:spPr>
          <a:xfrm>
            <a:off x="374040" y="1360800"/>
            <a:ext cx="11376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Resultados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620000" y="2375640"/>
            <a:ext cx="8819640" cy="30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Constructo foi validado em ambiente local, sendo capaz de gerar estimativas realistas de materiais com base em projetos simples.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Seu modelo de dados flexível e interface clara o tornam uma ferramenta promissora para uso em ações comunitárias, projetos de extensão e iniciativas de planejamento urbano acessível.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284;g2da54814955_3_ 3"/>
          <p:cNvSpPr/>
          <p:nvPr/>
        </p:nvSpPr>
        <p:spPr>
          <a:xfrm>
            <a:off x="1080" y="615600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19" name="Google Shape;285;g2da54814955_3_ 4"/>
          <p:cNvSpPr/>
          <p:nvPr/>
        </p:nvSpPr>
        <p:spPr>
          <a:xfrm>
            <a:off x="361080" y="59760"/>
            <a:ext cx="689364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0" name="Google Shape;286;g2da54814955_3_ 4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21" name="Google Shape;287;g2da54814955_3_ 4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88;g2da54814955_3_ 4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Google Shape;289;g2da54814955_3_ 4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Google Shape;291;g2da54814955_3_ 4"/>
          <p:cNvSpPr/>
          <p:nvPr/>
        </p:nvSpPr>
        <p:spPr>
          <a:xfrm>
            <a:off x="374040" y="1360800"/>
            <a:ext cx="11376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Considerações finais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900000" y="2186640"/>
            <a:ext cx="10799640" cy="267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Constructo combina simplicidade de uso com precisão técnica.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Sua estrutura modular e uso de tecnologias acessíveis permitem futura expansão para dispositivos móveis, exportação de projetos, autenticação de usuários e integração com iniciativas de habitação popular.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É um exemplo de como a tecnologia pode ser aplicada com impacto social real.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297;g2da54814955_3_80"/>
          <p:cNvSpPr/>
          <p:nvPr/>
        </p:nvSpPr>
        <p:spPr>
          <a:xfrm>
            <a:off x="1080" y="6156000"/>
            <a:ext cx="12190680" cy="7066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27" name="Google Shape;298;g2da54814955_3_80"/>
          <p:cNvSpPr/>
          <p:nvPr/>
        </p:nvSpPr>
        <p:spPr>
          <a:xfrm>
            <a:off x="361080" y="59760"/>
            <a:ext cx="681480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8" name="Google Shape;299;g2da54814955_3_80"/>
          <p:cNvCxnSpPr/>
          <p:nvPr/>
        </p:nvCxnSpPr>
        <p:spPr>
          <a:xfrm>
            <a:off x="0" y="1211400"/>
            <a:ext cx="8619840" cy="144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29" name="Google Shape;300;g2da54814955_3_80"/>
          <p:cNvSpPr/>
          <p:nvPr/>
        </p:nvSpPr>
        <p:spPr>
          <a:xfrm>
            <a:off x="263520" y="6223680"/>
            <a:ext cx="115012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301;g2da54814955_3_80"/>
          <p:cNvSpPr/>
          <p:nvPr/>
        </p:nvSpPr>
        <p:spPr>
          <a:xfrm>
            <a:off x="374040" y="516600"/>
            <a:ext cx="1477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302;g2da54814955_3_80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96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Google Shape;303;g2da54814955_3_80"/>
          <p:cNvSpPr/>
          <p:nvPr/>
        </p:nvSpPr>
        <p:spPr>
          <a:xfrm>
            <a:off x="408600" y="3085200"/>
            <a:ext cx="11353320" cy="84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3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Agradecimentos</a:t>
            </a:r>
            <a:endParaRPr b="0" lang="pt-BR" sz="4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4FF1C3B01986C4AB66F7E0E56356C01" ma:contentTypeVersion="11" ma:contentTypeDescription="Crie um novo documento." ma:contentTypeScope="" ma:versionID="af482a0aabf7c547265ff130ccaba13b">
  <xsd:schema xmlns:xsd="http://www.w3.org/2001/XMLSchema" xmlns:xs="http://www.w3.org/2001/XMLSchema" xmlns:p="http://schemas.microsoft.com/office/2006/metadata/properties" xmlns:ns2="3ebb2073-bbac-4e65-95c8-88d8ed2afb4f" xmlns:ns3="327f734b-3a97-4388-9df9-8c80004d5538" targetNamespace="http://schemas.microsoft.com/office/2006/metadata/properties" ma:root="true" ma:fieldsID="05903f2cd1a279f8be69cab4e233febb" ns2:_="" ns3:_="">
    <xsd:import namespace="3ebb2073-bbac-4e65-95c8-88d8ed2afb4f"/>
    <xsd:import namespace="327f734b-3a97-4388-9df9-8c80004d553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b2073-bbac-4e65-95c8-88d8ed2afb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Marcações de imagem" ma:readOnly="false" ma:fieldId="{5cf76f15-5ced-4ddc-b409-7134ff3c332f}" ma:taxonomyMulti="true" ma:sspId="0ef6089c-5148-4909-88ac-65974e5b7eb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f734b-3a97-4388-9df9-8c80004d553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061b1b5-4947-4ea0-9c80-6445be4b01df}" ma:internalName="TaxCatchAll" ma:showField="CatchAllData" ma:web="327f734b-3a97-4388-9df9-8c80004d553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0C657C9-A2D7-4463-A2AA-250C9EC266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bb2073-bbac-4e65-95c8-88d8ed2afb4f"/>
    <ds:schemaRef ds:uri="327f734b-3a97-4388-9df9-8c80004d553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B4A0ED-F809-4F6A-8E94-EBCDF08965A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3454</TotalTime>
  <Application>LibreOffice/25.2.4.3$Windows_X86_64 LibreOffice_project/33e196637044ead23f5c3226cde09b47731f7e27</Application>
  <AppVersion>15.0000</AppVersion>
  <Words>585</Words>
  <Paragraphs>158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2013-10-10T17:31:52Z</dcterms:created>
  <dc:creator>Adriana Paula Borges</dc:creator>
  <dc:description/>
  <dc:language>pt-BR</dc:language>
  <cp:lastModifiedBy/>
  <dcterms:modified xsi:type="dcterms:W3CDTF">2025-06-21T18:30:41Z</dcterms:modified>
  <cp:revision>22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0x010100650F1AF5666F31418BB73834C1BAAB8D</vt:lpwstr>
  </property>
  <property fmtid="{D5CDD505-2E9C-101B-9397-08002B2CF9AE}" pid="3" name="Notes">
    <vt:i4>14</vt:i4>
  </property>
  <property fmtid="{D5CDD505-2E9C-101B-9397-08002B2CF9AE}" pid="4" name="PresentationFormat">
    <vt:lpwstr>Widescreen</vt:lpwstr>
  </property>
  <property fmtid="{D5CDD505-2E9C-101B-9397-08002B2CF9AE}" pid="5" name="Slides">
    <vt:i4>14</vt:i4>
  </property>
</Properties>
</file>
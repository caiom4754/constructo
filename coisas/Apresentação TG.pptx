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1.xml.rels" ContentType="application/vnd.openxmlformats-package.relationships+xml"/>
  <Override PartName="/customXml/_rels/item2.xml.rels" ContentType="application/vnd.openxmlformats-package.relationships+xml"/>
  <Override PartName="/customXml/itemProps2.xml" ContentType="application/vnd.openxmlformats-officedocument.customXml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1.xml" ContentType="application/vnd.openxmlformats-officedocument.theme+xml"/>
  <Override PartName="/ppt/theme/theme5.xml" ContentType="application/vnd.openxmlformats-officedocument.them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3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media/image1.jpeg" ContentType="image/jpeg"/>
  <Override PartName="/ppt/media/image3.png" ContentType="image/png"/>
  <Override PartName="/ppt/media/image2.png" ContentType="image/png"/>
  <Override PartName="/ppt/media/image4.jpeg" ContentType="image/jpe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5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mover o slide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&lt;cabeçalho&gt;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08A1816-261A-4C92-80AF-4AD3D7BAE5BC}" type="slidenum"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&lt;número&gt;</a:t>
            </a:fld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JAQUE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DANI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JAQUE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pt-BR" sz="2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STHE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Layout Personaliz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0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60948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165560" y="6356520"/>
            <a:ext cx="385884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73756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E5AC567-3B5E-4615-B3B1-F426DEC7A173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000" cy="3975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texto dos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3.º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4.º nível de tópicos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5.º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6.º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7.º nível de tópicos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21;p8" descr="GGFD2166TRA Raw.tif"/>
          <p:cNvPicPr/>
          <p:nvPr/>
        </p:nvPicPr>
        <p:blipFill>
          <a:blip r:embed="rId2"/>
          <a:srcRect l="361" t="2149" r="9181" b="11113"/>
          <a:stretch/>
        </p:blipFill>
        <p:spPr>
          <a:xfrm>
            <a:off x="0" y="0"/>
            <a:ext cx="12190320" cy="5947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dt" idx="4"/>
          </p:nvPr>
        </p:nvSpPr>
        <p:spPr>
          <a:xfrm>
            <a:off x="60948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ftr" idx="5"/>
          </p:nvPr>
        </p:nvSpPr>
        <p:spPr>
          <a:xfrm>
            <a:off x="4165560" y="6356520"/>
            <a:ext cx="385884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6"/>
          </p:nvPr>
        </p:nvSpPr>
        <p:spPr>
          <a:xfrm>
            <a:off x="873756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7CD69A-7B1F-47D4-A68E-D91DAC6B72C8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Google Shape;25;p8" descr=""/>
          <p:cNvPicPr/>
          <p:nvPr/>
        </p:nvPicPr>
        <p:blipFill>
          <a:blip r:embed="rId3"/>
          <a:stretch/>
        </p:blipFill>
        <p:spPr>
          <a:xfrm>
            <a:off x="0" y="5464440"/>
            <a:ext cx="12190320" cy="139176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Slide de títu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27;p9" descr="GGFD2166TRA Raw.tif"/>
          <p:cNvPicPr/>
          <p:nvPr/>
        </p:nvPicPr>
        <p:blipFill>
          <a:blip r:embed="rId2"/>
          <a:srcRect l="361" t="2152" r="9181" b="13213"/>
          <a:stretch/>
        </p:blipFill>
        <p:spPr>
          <a:xfrm>
            <a:off x="0" y="0"/>
            <a:ext cx="12190320" cy="5803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dt" idx="7"/>
          </p:nvPr>
        </p:nvSpPr>
        <p:spPr>
          <a:xfrm>
            <a:off x="60948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ftr" idx="8"/>
          </p:nvPr>
        </p:nvSpPr>
        <p:spPr>
          <a:xfrm>
            <a:off x="4165560" y="6356520"/>
            <a:ext cx="385884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sldNum" idx="9"/>
          </p:nvPr>
        </p:nvSpPr>
        <p:spPr>
          <a:xfrm>
            <a:off x="873756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B6BA13-B95E-455E-A759-CB776CEF59A9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Google Shape;31;p9" descr=""/>
          <p:cNvPicPr/>
          <p:nvPr/>
        </p:nvPicPr>
        <p:blipFill>
          <a:blip r:embed="rId3"/>
          <a:stretch/>
        </p:blipFill>
        <p:spPr>
          <a:xfrm>
            <a:off x="0" y="5465160"/>
            <a:ext cx="12190320" cy="1391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Layout Personaliz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4680"/>
            <a:ext cx="10971000" cy="114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do texto do título</a:t>
            </a:r>
            <a:endParaRPr b="0" lang="pt-BR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dt" idx="10"/>
          </p:nvPr>
        </p:nvSpPr>
        <p:spPr>
          <a:xfrm>
            <a:off x="60948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&lt;data/hora&gt;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ftr" idx="11"/>
          </p:nvPr>
        </p:nvSpPr>
        <p:spPr>
          <a:xfrm>
            <a:off x="4165560" y="6356520"/>
            <a:ext cx="385884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pt-BR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&lt;rodapé&gt;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sldNum" idx="12"/>
          </p:nvPr>
        </p:nvSpPr>
        <p:spPr>
          <a:xfrm>
            <a:off x="8737560" y="6356520"/>
            <a:ext cx="2842920" cy="363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03A56D7-8711-47BD-A276-18153357A54E}" type="slidenum">
              <a:rPr b="0" lang="pt-BR" sz="1200" strike="noStrike" u="none">
                <a:solidFill>
                  <a:srgbClr val="888888"/>
                </a:solidFill>
                <a:effectLst/>
                <a:uFillTx/>
                <a:latin typeface="Calibri"/>
                <a:ea typeface="Calibri"/>
              </a:rPr>
              <a:t>&lt;número&gt;</a:t>
            </a:fld>
            <a:endParaRPr b="0" lang="pt-BR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Google Shape;43;p11" descr=""/>
          <p:cNvPicPr/>
          <p:nvPr/>
        </p:nvPicPr>
        <p:blipFill>
          <a:blip r:embed="rId2"/>
          <a:stretch/>
        </p:blipFill>
        <p:spPr>
          <a:xfrm>
            <a:off x="0" y="5464800"/>
            <a:ext cx="12190320" cy="1391400"/>
          </a:xfrm>
          <a:prstGeom prst="rect">
            <a:avLst/>
          </a:prstGeom>
          <a:noFill/>
          <a:ln w="0">
            <a:noFill/>
          </a:ln>
        </p:spPr>
      </p:pic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48;p1"/>
          <p:cNvSpPr/>
          <p:nvPr/>
        </p:nvSpPr>
        <p:spPr>
          <a:xfrm>
            <a:off x="1080" y="617616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27" name="Google Shape;49;p1"/>
          <p:cNvSpPr/>
          <p:nvPr/>
        </p:nvSpPr>
        <p:spPr>
          <a:xfrm>
            <a:off x="361080" y="59760"/>
            <a:ext cx="6991560" cy="85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" name="Google Shape;50;p1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29" name="Google Shape;51;p1"/>
          <p:cNvSpPr/>
          <p:nvPr/>
        </p:nvSpPr>
        <p:spPr>
          <a:xfrm>
            <a:off x="263520" y="6223680"/>
            <a:ext cx="11500920" cy="55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Google Shape;52;p1"/>
          <p:cNvSpPr/>
          <p:nvPr/>
        </p:nvSpPr>
        <p:spPr>
          <a:xfrm>
            <a:off x="374040" y="516600"/>
            <a:ext cx="1476720" cy="84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1" name="Google Shape;53;p1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2" name="Imagem 4" descr=""/>
          <p:cNvPicPr/>
          <p:nvPr/>
        </p:nvPicPr>
        <p:blipFill>
          <a:blip r:embed="rId2"/>
          <a:srcRect l="16164" t="34756" r="15818" b="19974"/>
          <a:stretch/>
        </p:blipFill>
        <p:spPr>
          <a:xfrm>
            <a:off x="3678480" y="2407320"/>
            <a:ext cx="4670280" cy="2041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61;g2e736680e3d_0_0"/>
          <p:cNvSpPr/>
          <p:nvPr/>
        </p:nvSpPr>
        <p:spPr>
          <a:xfrm>
            <a:off x="1080" y="618696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34" name="Google Shape;62;g2e736680e3d_0_0"/>
          <p:cNvSpPr/>
          <p:nvPr/>
        </p:nvSpPr>
        <p:spPr>
          <a:xfrm>
            <a:off x="361080" y="59760"/>
            <a:ext cx="6991560" cy="85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5" name="Google Shape;63;g2e736680e3d_0_0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36" name="Google Shape;64;g2e736680e3d_0_0"/>
          <p:cNvSpPr/>
          <p:nvPr/>
        </p:nvSpPr>
        <p:spPr>
          <a:xfrm>
            <a:off x="360000" y="4500000"/>
            <a:ext cx="3598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Caio da Mata Martins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2000" strike="noStrike" u="non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caio.martisn11@fatec.sp.gov.br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Google Shape;65;g2e736680e3d_0_0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Google Shape;66;g2e736680e3d_0_0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Google Shape;67;g2e736680e3d_0_0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2" descr=""/>
          <p:cNvPicPr/>
          <p:nvPr/>
        </p:nvPicPr>
        <p:blipFill>
          <a:blip r:embed="rId2"/>
          <a:srcRect l="0" t="4663" r="0" b="14675"/>
          <a:stretch/>
        </p:blipFill>
        <p:spPr>
          <a:xfrm>
            <a:off x="540000" y="1800000"/>
            <a:ext cx="1936080" cy="2777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"/>
          <p:cNvSpPr/>
          <p:nvPr/>
        </p:nvSpPr>
        <p:spPr>
          <a:xfrm>
            <a:off x="7560000" y="1764360"/>
            <a:ext cx="4281120" cy="237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Orientador</a:t>
            </a:r>
            <a:r>
              <a:rPr b="0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:</a:t>
            </a:r>
            <a:r>
              <a:rPr b="0" lang="pt-BR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Prof. Rubens Araújo Menezes de Souza Filho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Curso: 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Tecnologia em Sistemas para internet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FATEC São Roque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2025</a:t>
            </a:r>
            <a:endParaRPr b="0" lang="pt-BR" sz="2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3886560" y="4431600"/>
            <a:ext cx="3132360" cy="75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32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Vinícius Venâncio</a:t>
            </a:r>
            <a:endParaRPr b="0" lang="pt-BR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pt-BR" sz="2000" strike="noStrike" u="none">
                <a:solidFill>
                  <a:schemeClr val="accent1"/>
                </a:solidFill>
                <a:effectLst/>
                <a:uFillTx/>
                <a:latin typeface="Calibri"/>
                <a:ea typeface="Calibri"/>
              </a:rPr>
              <a:t>@fatec.sp.gov.br</a:t>
            </a:r>
            <a:endParaRPr b="0" lang="pt-BR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97;g2da54814955_1_4"/>
          <p:cNvSpPr/>
          <p:nvPr/>
        </p:nvSpPr>
        <p:spPr>
          <a:xfrm>
            <a:off x="1080" y="618768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44" name="Google Shape;98;g2da54814955_1_4"/>
          <p:cNvSpPr/>
          <p:nvPr/>
        </p:nvSpPr>
        <p:spPr>
          <a:xfrm>
            <a:off x="361080" y="59760"/>
            <a:ext cx="705060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45" name="Google Shape;99;g2da54814955_1_4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46" name="Google Shape;100;g2da54814955_1_4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Google Shape;101;g2da54814955_1_4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Google Shape;102;g2da54814955_1_4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Google Shape;104;g2da54814955_1_4"/>
          <p:cNvSpPr/>
          <p:nvPr/>
        </p:nvSpPr>
        <p:spPr>
          <a:xfrm>
            <a:off x="374040" y="1360800"/>
            <a:ext cx="779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Apresentação do Projeto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60000" y="1980720"/>
            <a:ext cx="11519280" cy="377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O Constructo é um protótipo de aplicação web desenvolvido com o objetivo de democratizar o acesso ao planejamento básico de construções residenciais.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Voltado ao público leigo, o sistema permite criar plantas baixas simples e estimar automaticamente os materiais necessários à obra, como blocos, cimento, areia e água.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- O projeto parte da premissa de que o acesso a ferramentas de planejamento pode contribuir diretamente para o enfrentamento do déficit habitacional e para a melhoria das condições de moradia da população.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112;g2da54814955_1_37"/>
          <p:cNvSpPr/>
          <p:nvPr/>
        </p:nvSpPr>
        <p:spPr>
          <a:xfrm>
            <a:off x="0" y="6186960"/>
            <a:ext cx="1219140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52" name="Google Shape;113;g2da54814955_1_37"/>
          <p:cNvSpPr/>
          <p:nvPr/>
        </p:nvSpPr>
        <p:spPr>
          <a:xfrm>
            <a:off x="361080" y="59760"/>
            <a:ext cx="70210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3" name="Google Shape;114;g2da54814955_1_37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54" name="Google Shape;115;g2da54814955_1_37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116;g2da54814955_1_37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6" name="Google Shape;117;g2da54814955_1_37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Google Shape;119;g2da54814955_1_37"/>
          <p:cNvSpPr/>
          <p:nvPr/>
        </p:nvSpPr>
        <p:spPr>
          <a:xfrm>
            <a:off x="374040" y="1360800"/>
            <a:ext cx="779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Funcionalidades Principais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263520" y="1800000"/>
            <a:ext cx="6036480" cy="464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spAutoFit/>
          </a:bodyPr>
          <a:p>
            <a:pPr>
              <a:lnSpc>
                <a:spcPct val="15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Criação de projetos com nome, altura de parede, tipo de bloco e elementos construtivos.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Inserção de portas e janelas com dimensões e quantidades.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Desenho vetorial da planta baixa, com medição por teorema de Pitágoras.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5760000" y="1800000"/>
            <a:ext cx="5760000" cy="42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 anchorCtr="1">
            <a:spAutoFit/>
          </a:bodyPr>
          <a:p>
            <a:pPr algn="r">
              <a:lnSpc>
                <a:spcPct val="15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Cálculo automático da área útil de parede.</a:t>
            </a: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Estimativa de materiais: blocos, cimento, areia e água.</a:t>
            </a: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Armazenamento e recuperação de projetos em banco de dados.</a:t>
            </a: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Interface simples para uso via navegador, com foco na clareza visual.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124;g2da54814955_3_5"/>
          <p:cNvSpPr/>
          <p:nvPr/>
        </p:nvSpPr>
        <p:spPr>
          <a:xfrm>
            <a:off x="0" y="6246720"/>
            <a:ext cx="12191400" cy="64656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61" name="Google Shape;125;g2da54814955_3_5"/>
          <p:cNvSpPr/>
          <p:nvPr/>
        </p:nvSpPr>
        <p:spPr>
          <a:xfrm>
            <a:off x="361080" y="59760"/>
            <a:ext cx="71686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Google Shape;126;g2da54814955_3_5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63" name="Google Shape;127;g2da54814955_3_5"/>
          <p:cNvSpPr/>
          <p:nvPr/>
        </p:nvSpPr>
        <p:spPr>
          <a:xfrm>
            <a:off x="263520" y="623664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Google Shape;128;g2da54814955_3_5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5" name="Google Shape;129;g2da54814955_3_5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6" name="Google Shape;131;g2da54814955_3_5"/>
          <p:cNvSpPr/>
          <p:nvPr/>
        </p:nvSpPr>
        <p:spPr>
          <a:xfrm>
            <a:off x="374040" y="1360800"/>
            <a:ext cx="779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Tecnologias Utilizadas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900000" y="2700000"/>
            <a:ext cx="18000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446040" y="2272680"/>
            <a:ext cx="5385240" cy="31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Frontend: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HTML5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CSS3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JavaScript (sem bibliotecas externas)</a:t>
            </a:r>
            <a:br>
              <a:rPr sz="2600"/>
            </a:br>
            <a:br>
              <a:rPr sz="2600"/>
            </a:b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Backend: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PHP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API RESTful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6168240" y="2268000"/>
            <a:ext cx="5711400" cy="286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r"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Banco de Dados: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MySQL (uso de JSON para armazenar estruturas vetoriais e atributos dos projetos)</a:t>
            </a:r>
            <a:br>
              <a:rPr sz="2600"/>
            </a:br>
            <a:br>
              <a:rPr sz="2600"/>
            </a:b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Ambiente de Desenvolvimento: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XAMPP (Apache, PHP, MySQL)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136;g2da54814955_3_16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71" name="Google Shape;137;g2da54814955_3_16"/>
          <p:cNvSpPr/>
          <p:nvPr/>
        </p:nvSpPr>
        <p:spPr>
          <a:xfrm>
            <a:off x="361080" y="59760"/>
            <a:ext cx="749304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2" name="Google Shape;138;g2da54814955_3_16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73" name="Google Shape;139;g2da54814955_3_16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140;g2da54814955_3_16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141;g2da54814955_3_16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"/>
          <p:cNvSpPr/>
          <p:nvPr/>
        </p:nvSpPr>
        <p:spPr>
          <a:xfrm>
            <a:off x="4903200" y="3126960"/>
            <a:ext cx="2476080" cy="47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pt-BR" sz="3000" strike="noStrike" u="none">
                <a:solidFill>
                  <a:srgbClr val="000000"/>
                </a:solidFill>
                <a:effectLst/>
                <a:uFillTx/>
                <a:latin typeface="Calibri"/>
              </a:rPr>
              <a:t>Demonstração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284;g2da54814955_3_58"/>
          <p:cNvSpPr/>
          <p:nvPr/>
        </p:nvSpPr>
        <p:spPr>
          <a:xfrm>
            <a:off x="0" y="6120000"/>
            <a:ext cx="12191400" cy="77328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78" name="Google Shape;285;g2da54814955_3_58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9" name="Google Shape;286;g2da54814955_3_58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80" name="Google Shape;287;g2da54814955_3_58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Google Shape;288;g2da54814955_3_58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3" name="Google Shape;290;g2da54814955_3_58"/>
          <p:cNvSpPr/>
          <p:nvPr/>
        </p:nvSpPr>
        <p:spPr>
          <a:xfrm>
            <a:off x="801360" y="1875600"/>
            <a:ext cx="10717920" cy="40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t-BR" sz="30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Cálculo entre 2 pontos (com coordenadas)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Comprimento = Math.sqrt(Math.pow(endX-startX,2)+Math.pow(endY-startY,2)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Conversão de Coordenadas para Metros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Calibri"/>
              </a:rPr>
              <a:t>comprimento / tamanhoQuadrado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4572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Calculo área das Aberturas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areaTotalAberturas += largura * altura * quantidade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b="0" lang="pt-BR" sz="2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 Cálculo dos Blocos</a:t>
            </a: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areaTotalAberturas = calcularAreaAberturas();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areaParede = (calcularComprimentoParede() * alturaParede) - areaTotalAberturas;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areaBloco = dimensoesBloco.comprimento * dimensoesBloco.altura;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1400" strike="noStrike" u="none">
                <a:solidFill>
                  <a:srgbClr val="002060"/>
                </a:solidFill>
                <a:effectLst/>
                <a:uFillTx/>
                <a:latin typeface="Consolas"/>
                <a:ea typeface="Arial"/>
              </a:rPr>
              <a:t>numeroBlocos = Math.ceil(areaParede / areaBloco);</a:t>
            </a: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291;g2da54814955_3_58"/>
          <p:cNvSpPr/>
          <p:nvPr/>
        </p:nvSpPr>
        <p:spPr>
          <a:xfrm>
            <a:off x="374040" y="1360800"/>
            <a:ext cx="928224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36;g2da54814955_3_ 1"/>
          <p:cNvSpPr/>
          <p:nvPr/>
        </p:nvSpPr>
        <p:spPr>
          <a:xfrm>
            <a:off x="1080" y="6223680"/>
            <a:ext cx="12190320" cy="63864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6" name="Google Shape;139;g2da54814955_3_ 1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284;g2da54814955_3_58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88" name="Google Shape;285;g2da54814955_3_58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9" name="Google Shape;286;g2da54814955_3_58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90" name="Google Shape;287;g2da54814955_3_58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Google Shape;288;g2da54814955_3_58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3" name="Google Shape;290;g2da54814955_3_58"/>
          <p:cNvSpPr/>
          <p:nvPr/>
        </p:nvSpPr>
        <p:spPr>
          <a:xfrm>
            <a:off x="801360" y="1875600"/>
            <a:ext cx="10537920" cy="40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Consumo de argamassa (L/bloco): Varia conforme a espessura da junta.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Traço da argamassa (cimento:areia): Define a proporção de materiais na mistura.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Relação Água/Cimento (L/kg): Indica quantos litros de água são necessários por kg de cimento, considerando a absorção do bloco.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Google Shape;291;g2da54814955_3_58"/>
          <p:cNvSpPr/>
          <p:nvPr/>
        </p:nvSpPr>
        <p:spPr>
          <a:xfrm>
            <a:off x="374040" y="1360800"/>
            <a:ext cx="9282240" cy="73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284;g2da54814955_3_ 1"/>
          <p:cNvSpPr/>
          <p:nvPr/>
        </p:nvSpPr>
        <p:spPr>
          <a:xfrm>
            <a:off x="1080" y="616896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96" name="Google Shape;285;g2da54814955_3_ 2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7" name="Google Shape;286;g2da54814955_3_ 2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98" name="Google Shape;287;g2da54814955_3_ 2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288;g2da54814955_3_ 2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Google Shape;289;g2da54814955_3_ 2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Google Shape;290;g2da54814955_3_ 2"/>
          <p:cNvSpPr/>
          <p:nvPr/>
        </p:nvSpPr>
        <p:spPr>
          <a:xfrm>
            <a:off x="801360" y="1712160"/>
            <a:ext cx="11257920" cy="40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noAutofit/>
          </a:bodyPr>
          <a:p>
            <a:pPr marL="343080" indent="-343080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Volume Argamassa: </a:t>
            </a:r>
            <a:r>
              <a:rPr b="0" lang="pt-BR" sz="1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numBlocos * params.consumoArgamassa; 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2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Volume Cimento: </a:t>
            </a:r>
            <a:r>
              <a:rPr b="0" lang="pt-BR" sz="1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volumeArgamassa / (params.traco.cimento + params.traco.areia);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Cimento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: </a:t>
            </a:r>
            <a:r>
              <a:rPr b="0" lang="pt-BR" sz="1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(volumeCimento / 0.0357 * 1.1).toFixed(1) ,   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   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Areia</a:t>
            </a: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b="0" lang="pt-BR" sz="1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 (volumeArgamassa * (params.traco.areia / (params.traco.cimento + params.traco.areia)) * 1.1).toFixed(3),  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      </a:t>
            </a:r>
            <a:endParaRPr b="0" lang="pt-BR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43080" indent="-343080">
              <a:lnSpc>
                <a:spcPct val="15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Água</a:t>
            </a: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Calibri"/>
              </a:rPr>
              <a:t>:</a:t>
            </a:r>
            <a:r>
              <a:rPr b="0" lang="pt-BR" sz="1600" strike="noStrike" u="none">
                <a:solidFill>
                  <a:srgbClr val="3465a4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b="0" lang="pt-BR" sz="1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(volumeCimento * 1400 * params.relacaoAC * 1.1).toFixed(1) </a:t>
            </a:r>
            <a:r>
              <a:rPr b="0" lang="pt-BR" sz="2600" strike="noStrike" u="none">
                <a:solidFill>
                  <a:srgbClr val="002060"/>
                </a:solidFill>
                <a:effectLst/>
                <a:uFillTx/>
                <a:latin typeface="Calibri"/>
                <a:ea typeface="Calibri"/>
              </a:rPr>
              <a:t>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Google Shape;291;g2da54814955_3_ 2"/>
          <p:cNvSpPr/>
          <p:nvPr/>
        </p:nvSpPr>
        <p:spPr>
          <a:xfrm>
            <a:off x="374040" y="1360800"/>
            <a:ext cx="9282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Cálculos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284;g2da54814955_3_58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04" name="Google Shape;285;g2da54814955_3_58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5" name="Google Shape;286;g2da54814955_3_58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06" name="Google Shape;287;g2da54814955_3_58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Google Shape;288;g2da54814955_3_58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289;g2da54814955_3_58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Google Shape;291;g2da54814955_3_58"/>
          <p:cNvSpPr/>
          <p:nvPr/>
        </p:nvSpPr>
        <p:spPr>
          <a:xfrm>
            <a:off x="374040" y="1360800"/>
            <a:ext cx="1137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Estrutura dos Projetos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317600" y="1972800"/>
            <a:ext cx="8941680" cy="40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Cada projeto é armazenado com os seguintes elementos:</a:t>
            </a: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alturaParede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2600"/>
            </a:b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nomeProjeto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tipoBloco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stack (linhas desenhadas com coordenadas vetoriais)</a:t>
            </a:r>
            <a:br>
              <a:rPr sz="2600"/>
            </a:b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Calibri"/>
                <a:ea typeface="Microsoft YaHei"/>
              </a:rPr>
              <a:t>- portasJanelas (lista de objetos com largura, altura e quantidade)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284;g2da54814955_3_ 2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12" name="Google Shape;285;g2da54814955_3_ 3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" name="Google Shape;286;g2da54814955_3_ 3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14" name="Google Shape;287;g2da54814955_3_ 3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Google Shape;288;g2da54814955_3_ 3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Google Shape;289;g2da54814955_3_ 3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7" name="Google Shape;291;g2da54814955_3_ 3"/>
          <p:cNvSpPr/>
          <p:nvPr/>
        </p:nvSpPr>
        <p:spPr>
          <a:xfrm>
            <a:off x="374040" y="1360800"/>
            <a:ext cx="1137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Resultados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/>
          <p:nvPr/>
        </p:nvSpPr>
        <p:spPr>
          <a:xfrm>
            <a:off x="1620000" y="2375640"/>
            <a:ext cx="8819280" cy="304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Constructo foi validado em ambiente local, sendo capaz de gerar estimativas realistas de materiais com base em projetos simples.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Seu modelo de dados flexível e interface clara o tornam uma ferramenta promissora para uso em ações comunitárias, projetos de extensão e iniciativas de planejamento urbano acessível.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284;g2da54814955_3_ 3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20" name="Google Shape;285;g2da54814955_3_ 4"/>
          <p:cNvSpPr/>
          <p:nvPr/>
        </p:nvSpPr>
        <p:spPr>
          <a:xfrm>
            <a:off x="361080" y="59760"/>
            <a:ext cx="689328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1" name="Google Shape;286;g2da54814955_3_ 4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22" name="Google Shape;287;g2da54814955_3_ 4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288;g2da54814955_3_ 4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4" name="Google Shape;289;g2da54814955_3_ 4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5" name="Google Shape;291;g2da54814955_3_ 4"/>
          <p:cNvSpPr/>
          <p:nvPr/>
        </p:nvSpPr>
        <p:spPr>
          <a:xfrm>
            <a:off x="374040" y="1360800"/>
            <a:ext cx="1137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Considerações finais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900000" y="2186640"/>
            <a:ext cx="10799280" cy="267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 Constructo combina simplicidade de uso com precisão técnica.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0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Sua estrutura modular e uso de tecnologias acessíveis permitem futura expansão para dispositivos móveis, exportação de projetos, autenticação de usuários e integração com iniciativas de habitação popular. 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>
              <a:lnSpc>
                <a:spcPct val="100000"/>
              </a:lnSpc>
            </a:pPr>
            <a:r>
              <a:rPr b="1" lang="pt-BR" sz="2600" strike="noStrike" u="non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É um exemplo de como a tecnologia pode ser aplicada com impacto social real.</a:t>
            </a:r>
            <a:endParaRPr b="0" lang="pt-BR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297;g2da54814955_3_80"/>
          <p:cNvSpPr/>
          <p:nvPr/>
        </p:nvSpPr>
        <p:spPr>
          <a:xfrm>
            <a:off x="1080" y="6156000"/>
            <a:ext cx="12190320" cy="706320"/>
          </a:xfrm>
          <a:prstGeom prst="rect">
            <a:avLst/>
          </a:prstGeom>
          <a:gradFill rotWithShape="0">
            <a:gsLst>
              <a:gs pos="0">
                <a:srgbClr val="6f0805"/>
              </a:gs>
              <a:gs pos="50000">
                <a:srgbClr val="a20c07"/>
              </a:gs>
              <a:gs pos="100000">
                <a:srgbClr val="c20f09"/>
              </a:gs>
            </a:gsLst>
            <a:lin ang="162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pt-BR" sz="1800" strike="noStrike" u="none">
              <a:solidFill>
                <a:srgbClr val="ad1916"/>
              </a:solidFill>
              <a:effectLst/>
              <a:uFillTx/>
              <a:latin typeface="Calibri"/>
              <a:ea typeface="Calibri"/>
            </a:endParaRPr>
          </a:p>
        </p:txBody>
      </p:sp>
      <p:sp>
        <p:nvSpPr>
          <p:cNvPr id="128" name="Google Shape;298;g2da54814955_3_80"/>
          <p:cNvSpPr/>
          <p:nvPr/>
        </p:nvSpPr>
        <p:spPr>
          <a:xfrm>
            <a:off x="361080" y="59760"/>
            <a:ext cx="6814440" cy="73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4000"/>
              </a:lnSpc>
              <a:tabLst>
                <a:tab algn="l" pos="0"/>
              </a:tabLst>
            </a:pPr>
            <a:r>
              <a:rPr b="1" lang="pt-BR" sz="48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Trabalho de Graduação</a:t>
            </a:r>
            <a:endParaRPr b="0" lang="pt-BR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Google Shape;299;g2da54814955_3_80"/>
          <p:cNvCxnSpPr/>
          <p:nvPr/>
        </p:nvCxnSpPr>
        <p:spPr>
          <a:xfrm>
            <a:off x="0" y="1211400"/>
            <a:ext cx="8620200" cy="1800"/>
          </a:xfrm>
          <a:prstGeom prst="straightConnector1">
            <a:avLst/>
          </a:prstGeom>
          <a:ln w="28575">
            <a:solidFill>
              <a:srgbClr val="a5a5a5"/>
            </a:solidFill>
            <a:round/>
          </a:ln>
        </p:spPr>
      </p:cxnSp>
      <p:sp>
        <p:nvSpPr>
          <p:cNvPr id="130" name="Google Shape;300;g2da54814955_3_80"/>
          <p:cNvSpPr/>
          <p:nvPr/>
        </p:nvSpPr>
        <p:spPr>
          <a:xfrm>
            <a:off x="263520" y="6223680"/>
            <a:ext cx="115009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3000" strike="noStrike" u="none">
                <a:solidFill>
                  <a:schemeClr val="lt1"/>
                </a:solidFill>
                <a:effectLst/>
                <a:uFillTx/>
                <a:latin typeface="Calibri"/>
                <a:ea typeface="Calibri"/>
              </a:rPr>
              <a:t>Constructo – Desenho de plantas com calculadora integrada</a:t>
            </a:r>
            <a:endParaRPr b="0" lang="pt-BR" sz="3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301;g2da54814955_3_80"/>
          <p:cNvSpPr/>
          <p:nvPr/>
        </p:nvSpPr>
        <p:spPr>
          <a:xfrm>
            <a:off x="374040" y="516600"/>
            <a:ext cx="1476720" cy="69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38000"/>
              </a:lnSpc>
              <a:tabLst>
                <a:tab algn="l" pos="0"/>
              </a:tabLst>
            </a:pPr>
            <a:r>
              <a:rPr b="1" lang="pt-BR" sz="3600" strike="noStrike" u="none">
                <a:solidFill>
                  <a:srgbClr val="a5a5a5"/>
                </a:solidFill>
                <a:effectLst/>
                <a:uFillTx/>
                <a:latin typeface="Calibri"/>
                <a:ea typeface="Calibri"/>
              </a:rPr>
              <a:t>2025.1</a:t>
            </a:r>
            <a:endParaRPr b="0" lang="pt-BR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2" name="Google Shape;302;g2da54814955_3_80" descr="Resultado de imagem para fatec sÃ£o roque"/>
          <p:cNvPicPr/>
          <p:nvPr/>
        </p:nvPicPr>
        <p:blipFill>
          <a:blip r:embed="rId1"/>
          <a:stretch/>
        </p:blipFill>
        <p:spPr>
          <a:xfrm>
            <a:off x="8170200" y="80280"/>
            <a:ext cx="3828600" cy="1428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Google Shape;303;g2da54814955_3_80"/>
          <p:cNvSpPr/>
          <p:nvPr/>
        </p:nvSpPr>
        <p:spPr>
          <a:xfrm>
            <a:off x="408600" y="3085200"/>
            <a:ext cx="113529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b="1" lang="pt-BR" sz="4300" strike="noStrike" u="non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Agradecimentos</a:t>
            </a:r>
            <a:endParaRPr b="0" lang="pt-BR" sz="4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Escritório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84FF1C3B01986C4AB66F7E0E56356C01" ma:contentTypeVersion="11" ma:contentTypeDescription="Crie um novo documento." ma:contentTypeScope="" ma:versionID="af482a0aabf7c547265ff130ccaba13b">
  <xsd:schema xmlns:xsd="http://www.w3.org/2001/XMLSchema" xmlns:xs="http://www.w3.org/2001/XMLSchema" xmlns:p="http://schemas.microsoft.com/office/2006/metadata/properties" xmlns:ns2="3ebb2073-bbac-4e65-95c8-88d8ed2afb4f" xmlns:ns3="327f734b-3a97-4388-9df9-8c80004d5538" targetNamespace="http://schemas.microsoft.com/office/2006/metadata/properties" ma:root="true" ma:fieldsID="05903f2cd1a279f8be69cab4e233febb" ns2:_="" ns3:_="">
    <xsd:import namespace="3ebb2073-bbac-4e65-95c8-88d8ed2afb4f"/>
    <xsd:import namespace="327f734b-3a97-4388-9df9-8c80004d553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bb2073-bbac-4e65-95c8-88d8ed2afb4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Marcações de imagem" ma:readOnly="false" ma:fieldId="{5cf76f15-5ced-4ddc-b409-7134ff3c332f}" ma:taxonomyMulti="true" ma:sspId="0ef6089c-5148-4909-88ac-65974e5b7eb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7f734b-3a97-4388-9df9-8c80004d5538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061b1b5-4947-4ea0-9c80-6445be4b01df}" ma:internalName="TaxCatchAll" ma:showField="CatchAllData" ma:web="327f734b-3a97-4388-9df9-8c80004d553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0C657C9-A2D7-4463-A2AA-250C9EC266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ebb2073-bbac-4e65-95c8-88d8ed2afb4f"/>
    <ds:schemaRef ds:uri="327f734b-3a97-4388-9df9-8c80004d553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B4A0ED-F809-4F6A-8E94-EBCDF08965A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3481</TotalTime>
  <Application>LibreOffice/25.2.4.3$Windows_X86_64 LibreOffice_project/33e196637044ead23f5c3226cde09b47731f7e27</Application>
  <AppVersion>15.0000</AppVersion>
  <Words>585</Words>
  <Paragraphs>158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2013-10-10T17:31:52Z</dcterms:created>
  <dc:creator>Adriana Paula Borges</dc:creator>
  <dc:description/>
  <dc:language>pt-BR</dc:language>
  <cp:lastModifiedBy/>
  <dcterms:modified xsi:type="dcterms:W3CDTF">2025-06-23T21:45:22Z</dcterms:modified>
  <cp:revision>23</cp:revision>
  <dc:subject/>
  <dc:title>Apresentação do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0x010100650F1AF5666F31418BB73834C1BAAB8D</vt:lpwstr>
  </property>
  <property fmtid="{D5CDD505-2E9C-101B-9397-08002B2CF9AE}" pid="3" name="Notes">
    <vt:i4>14</vt:i4>
  </property>
  <property fmtid="{D5CDD505-2E9C-101B-9397-08002B2CF9AE}" pid="4" name="PresentationFormat">
    <vt:lpwstr>Widescreen</vt:lpwstr>
  </property>
  <property fmtid="{D5CDD505-2E9C-101B-9397-08002B2CF9AE}" pid="5" name="Slides">
    <vt:i4>14</vt:i4>
  </property>
</Properties>
</file>
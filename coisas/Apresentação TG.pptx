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itemProps2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5.xml" ContentType="application/vnd.openxmlformats-officedocument.them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media/image1.jpeg" ContentType="image/jpeg"/>
  <Override PartName="/ppt/media/image3.png" ContentType="image/png"/>
  <Override PartName="/ppt/media/image2.png" ContentType="image/png"/>
  <Override PartName="/ppt/media/image4.jpeg" ContentType="image/jpeg"/>
  <Override PartName="/ppt/media/image5.png" ContentType="image/png"/>
  <Override PartName="/ppt/media/image6.png" ContentType="image/png"/>
  <Override PartName="/ppt/media/image7.jpe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1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ftr" idx="1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sldNum" idx="1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1A101E5-3B2F-4249-AA5B-C7C1A306911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JAQUE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DANI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STHE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JAQUE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STHE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STHE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STHE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STHE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STHE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STHE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STHE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Layout Personaliz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064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5848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A08A05-CA3F-4510-8FB8-B49D675922D2}" type="slidenum">
              <a: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de títul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1;p8" descr="GGFD2166TRA Raw.tif"/>
          <p:cNvPicPr/>
          <p:nvPr/>
        </p:nvPicPr>
        <p:blipFill>
          <a:blip r:embed="rId2"/>
          <a:srcRect l="361" t="2149" r="9181" b="11113"/>
          <a:stretch/>
        </p:blipFill>
        <p:spPr>
          <a:xfrm>
            <a:off x="0" y="0"/>
            <a:ext cx="12189960" cy="594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5848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7B5098-764E-4DB6-AACE-8CC7B1BF2D1D}" type="slidenum">
              <a: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" name="Google Shape;25;p8" descr=""/>
          <p:cNvPicPr/>
          <p:nvPr/>
        </p:nvPicPr>
        <p:blipFill>
          <a:blip r:embed="rId3"/>
          <a:stretch/>
        </p:blipFill>
        <p:spPr>
          <a:xfrm>
            <a:off x="0" y="5464440"/>
            <a:ext cx="12189960" cy="13914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lide de títul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27;p9" descr="GGFD2166TRA Raw.tif"/>
          <p:cNvPicPr/>
          <p:nvPr/>
        </p:nvPicPr>
        <p:blipFill>
          <a:blip r:embed="rId2"/>
          <a:srcRect l="361" t="2152" r="9181" b="13213"/>
          <a:stretch/>
        </p:blipFill>
        <p:spPr>
          <a:xfrm>
            <a:off x="0" y="0"/>
            <a:ext cx="12189960" cy="580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5848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EAA5F3-85C3-4A29-A54A-BF60E205E78D}" type="slidenum">
              <a: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" name="Google Shape;31;p9" descr=""/>
          <p:cNvPicPr/>
          <p:nvPr/>
        </p:nvPicPr>
        <p:blipFill>
          <a:blip r:embed="rId3"/>
          <a:stretch/>
        </p:blipFill>
        <p:spPr>
          <a:xfrm>
            <a:off x="0" y="5465160"/>
            <a:ext cx="12189960" cy="13910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Layout Personaliz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064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5848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E62871-855F-4DE0-BADB-D08510EB3426}" type="slidenum">
              <a: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" name="Google Shape;43;p11" descr=""/>
          <p:cNvPicPr/>
          <p:nvPr/>
        </p:nvPicPr>
        <p:blipFill>
          <a:blip r:embed="rId2"/>
          <a:stretch/>
        </p:blipFill>
        <p:spPr>
          <a:xfrm>
            <a:off x="0" y="5464800"/>
            <a:ext cx="12189960" cy="13910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6.pn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48;p1"/>
          <p:cNvSpPr/>
          <p:nvPr/>
        </p:nvSpPr>
        <p:spPr>
          <a:xfrm>
            <a:off x="1080" y="6176160"/>
            <a:ext cx="12189960" cy="705960"/>
          </a:xfrm>
          <a:prstGeom prst="rect">
            <a:avLst/>
          </a:prstGeom>
          <a:gradFill rotWithShape="0"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ad1916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7" name="Google Shape;49;p1"/>
          <p:cNvSpPr/>
          <p:nvPr/>
        </p:nvSpPr>
        <p:spPr>
          <a:xfrm>
            <a:off x="361080" y="59760"/>
            <a:ext cx="699120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Trabalho de Graduação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" name="Google Shape;50;p1"/>
          <p:cNvCxnSpPr/>
          <p:nvPr/>
        </p:nvCxnSpPr>
        <p:spPr>
          <a:xfrm>
            <a:off x="0" y="1211400"/>
            <a:ext cx="8620560" cy="2160"/>
          </a:xfrm>
          <a:prstGeom prst="straightConnector1">
            <a:avLst/>
          </a:prstGeom>
          <a:ln w="28575">
            <a:solidFill>
              <a:srgbClr val="a5a5a5"/>
            </a:solidFill>
            <a:round/>
          </a:ln>
        </p:spPr>
      </p:cxnSp>
      <p:sp>
        <p:nvSpPr>
          <p:cNvPr id="29" name="Google Shape;51;p1"/>
          <p:cNvSpPr/>
          <p:nvPr/>
        </p:nvSpPr>
        <p:spPr>
          <a:xfrm>
            <a:off x="263520" y="6223680"/>
            <a:ext cx="1150056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30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Constructo – Desenho de plantas com calculadora integrada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52;p1"/>
          <p:cNvSpPr/>
          <p:nvPr/>
        </p:nvSpPr>
        <p:spPr>
          <a:xfrm>
            <a:off x="374040" y="516600"/>
            <a:ext cx="1476360" cy="84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rgbClr val="a5a5a5"/>
                </a:solidFill>
                <a:effectLst/>
                <a:uFillTx/>
                <a:latin typeface="Calibri"/>
                <a:ea typeface="Calibri"/>
              </a:rPr>
              <a:t>2025.1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Google Shape;53;p1" descr="Resultado de imagem para fatec sÃ£o roque"/>
          <p:cNvPicPr/>
          <p:nvPr/>
        </p:nvPicPr>
        <p:blipFill>
          <a:blip r:embed="rId1"/>
          <a:stretch/>
        </p:blipFill>
        <p:spPr>
          <a:xfrm>
            <a:off x="8170200" y="80280"/>
            <a:ext cx="3828240" cy="142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Imagem 4" descr=""/>
          <p:cNvPicPr/>
          <p:nvPr/>
        </p:nvPicPr>
        <p:blipFill>
          <a:blip r:embed="rId2"/>
          <a:srcRect l="16164" t="34756" r="15818" b="19974"/>
          <a:stretch/>
        </p:blipFill>
        <p:spPr>
          <a:xfrm>
            <a:off x="3678480" y="2407320"/>
            <a:ext cx="4669920" cy="2040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61;g2e736680e3d_0_0"/>
          <p:cNvSpPr/>
          <p:nvPr/>
        </p:nvSpPr>
        <p:spPr>
          <a:xfrm>
            <a:off x="1080" y="6186960"/>
            <a:ext cx="12189960" cy="705960"/>
          </a:xfrm>
          <a:prstGeom prst="rect">
            <a:avLst/>
          </a:prstGeom>
          <a:gradFill rotWithShape="0"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ad1916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4" name="Google Shape;62;g2e736680e3d_0_0"/>
          <p:cNvSpPr/>
          <p:nvPr/>
        </p:nvSpPr>
        <p:spPr>
          <a:xfrm>
            <a:off x="361080" y="59760"/>
            <a:ext cx="699120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Trabalho de Graduação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" name="Google Shape;63;g2e736680e3d_0_0"/>
          <p:cNvCxnSpPr/>
          <p:nvPr/>
        </p:nvCxnSpPr>
        <p:spPr>
          <a:xfrm>
            <a:off x="0" y="1211400"/>
            <a:ext cx="8620560" cy="2160"/>
          </a:xfrm>
          <a:prstGeom prst="straightConnector1">
            <a:avLst/>
          </a:prstGeom>
          <a:ln w="28575">
            <a:solidFill>
              <a:srgbClr val="a5a5a5"/>
            </a:solidFill>
            <a:round/>
          </a:ln>
        </p:spPr>
      </p:cxnSp>
      <p:sp>
        <p:nvSpPr>
          <p:cNvPr id="36" name="Google Shape;64;g2e736680e3d_0_0"/>
          <p:cNvSpPr/>
          <p:nvPr/>
        </p:nvSpPr>
        <p:spPr>
          <a:xfrm>
            <a:off x="360000" y="4500000"/>
            <a:ext cx="3598560" cy="8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Caio da Mata Martins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000" strike="noStrike" u="non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caio.martisn11@fatec.sp.gov.br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Google Shape;65;g2e736680e3d_0_0"/>
          <p:cNvSpPr/>
          <p:nvPr/>
        </p:nvSpPr>
        <p:spPr>
          <a:xfrm>
            <a:off x="263520" y="6223680"/>
            <a:ext cx="115005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30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Constructo – Desenho de plantas com calculadora integrada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Google Shape;66;g2e736680e3d_0_0"/>
          <p:cNvSpPr/>
          <p:nvPr/>
        </p:nvSpPr>
        <p:spPr>
          <a:xfrm>
            <a:off x="374040" y="516600"/>
            <a:ext cx="14763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rgbClr val="a5a5a5"/>
                </a:solidFill>
                <a:effectLst/>
                <a:uFillTx/>
                <a:latin typeface="Calibri"/>
                <a:ea typeface="Calibri"/>
              </a:rPr>
              <a:t>2025.1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Google Shape;67;g2e736680e3d_0_0" descr="Resultado de imagem para fatec sÃ£o roque"/>
          <p:cNvPicPr/>
          <p:nvPr/>
        </p:nvPicPr>
        <p:blipFill>
          <a:blip r:embed="rId1"/>
          <a:stretch/>
        </p:blipFill>
        <p:spPr>
          <a:xfrm>
            <a:off x="8170200" y="80280"/>
            <a:ext cx="3828240" cy="142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Imagem 2" descr=""/>
          <p:cNvPicPr/>
          <p:nvPr/>
        </p:nvPicPr>
        <p:blipFill>
          <a:blip r:embed="rId2"/>
          <a:srcRect l="0" t="4663" r="0" b="14675"/>
          <a:stretch/>
        </p:blipFill>
        <p:spPr>
          <a:xfrm>
            <a:off x="468000" y="1800000"/>
            <a:ext cx="1935720" cy="277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"/>
          <p:cNvSpPr/>
          <p:nvPr/>
        </p:nvSpPr>
        <p:spPr>
          <a:xfrm>
            <a:off x="7560000" y="1764360"/>
            <a:ext cx="4281120" cy="23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Orientador</a:t>
            </a:r>
            <a:r>
              <a:rPr b="0" lang="pt-BR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Prof. Rubens Araújo Menezes de Souza Filho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Curso: 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Tecnologia em Sistemas para internet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FATEC São Roque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2025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3960000" y="4500000"/>
            <a:ext cx="3888000" cy="7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2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Vinícius Venâncio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trike="noStrike" u="non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vinicius.venancio@fatec.sp.gov.br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3"/>
          <a:srcRect l="0" t="22930" r="6058" b="9391"/>
          <a:stretch/>
        </p:blipFill>
        <p:spPr>
          <a:xfrm>
            <a:off x="4032000" y="1800000"/>
            <a:ext cx="2136600" cy="279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97;g2da54814955_1_4"/>
          <p:cNvSpPr/>
          <p:nvPr/>
        </p:nvSpPr>
        <p:spPr>
          <a:xfrm>
            <a:off x="1080" y="6187680"/>
            <a:ext cx="12189960" cy="705960"/>
          </a:xfrm>
          <a:prstGeom prst="rect">
            <a:avLst/>
          </a:prstGeom>
          <a:gradFill rotWithShape="0"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ad1916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45" name="Google Shape;98;g2da54814955_1_4"/>
          <p:cNvSpPr/>
          <p:nvPr/>
        </p:nvSpPr>
        <p:spPr>
          <a:xfrm>
            <a:off x="361080" y="59760"/>
            <a:ext cx="705024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Trabalho de Graduação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" name="Google Shape;99;g2da54814955_1_4"/>
          <p:cNvCxnSpPr/>
          <p:nvPr/>
        </p:nvCxnSpPr>
        <p:spPr>
          <a:xfrm>
            <a:off x="0" y="1211400"/>
            <a:ext cx="8620560" cy="2160"/>
          </a:xfrm>
          <a:prstGeom prst="straightConnector1">
            <a:avLst/>
          </a:prstGeom>
          <a:ln w="28575">
            <a:solidFill>
              <a:srgbClr val="a5a5a5"/>
            </a:solidFill>
            <a:round/>
          </a:ln>
        </p:spPr>
      </p:cxnSp>
      <p:sp>
        <p:nvSpPr>
          <p:cNvPr id="47" name="Google Shape;100;g2da54814955_1_4"/>
          <p:cNvSpPr/>
          <p:nvPr/>
        </p:nvSpPr>
        <p:spPr>
          <a:xfrm>
            <a:off x="263520" y="6223680"/>
            <a:ext cx="115005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30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Constructo – Desenho de plantas com calculadora integrada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101;g2da54814955_1_4"/>
          <p:cNvSpPr/>
          <p:nvPr/>
        </p:nvSpPr>
        <p:spPr>
          <a:xfrm>
            <a:off x="374040" y="516600"/>
            <a:ext cx="14763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rgbClr val="a5a5a5"/>
                </a:solidFill>
                <a:effectLst/>
                <a:uFillTx/>
                <a:latin typeface="Calibri"/>
                <a:ea typeface="Calibri"/>
              </a:rPr>
              <a:t>2025.1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Google Shape;102;g2da54814955_1_4" descr="Resultado de imagem para fatec sÃ£o roque"/>
          <p:cNvPicPr/>
          <p:nvPr/>
        </p:nvPicPr>
        <p:blipFill>
          <a:blip r:embed="rId1"/>
          <a:stretch/>
        </p:blipFill>
        <p:spPr>
          <a:xfrm>
            <a:off x="8170200" y="80280"/>
            <a:ext cx="3828240" cy="14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Google Shape;104;g2da54814955_1_4"/>
          <p:cNvSpPr/>
          <p:nvPr/>
        </p:nvSpPr>
        <p:spPr>
          <a:xfrm>
            <a:off x="374040" y="1360800"/>
            <a:ext cx="7794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Apresentação do Projeto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360000" y="1980720"/>
            <a:ext cx="11518920" cy="37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- O Constructo é um protótipo de aplicação web desenvolvido com o objetivo de democratizar o acesso ao planejamento básico de construções residenciais.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- Voltado ao público leigo, o sistema permite criar plantas baixas simples e estimar automaticamente os materiais necessários à obra, como blocos, cimento, areia e água.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- O projeto parte da premissa de que o acesso a ferramentas de planejamento pode contribuir diretamente para o enfrentamento do déficit habitacional e para a melhoria das condições de moradia da população.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112;g2da54814955_1_37"/>
          <p:cNvSpPr/>
          <p:nvPr/>
        </p:nvSpPr>
        <p:spPr>
          <a:xfrm>
            <a:off x="0" y="6186960"/>
            <a:ext cx="12191040" cy="705960"/>
          </a:xfrm>
          <a:prstGeom prst="rect">
            <a:avLst/>
          </a:prstGeom>
          <a:gradFill rotWithShape="0"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ad1916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53" name="Google Shape;113;g2da54814955_1_37"/>
          <p:cNvSpPr/>
          <p:nvPr/>
        </p:nvSpPr>
        <p:spPr>
          <a:xfrm>
            <a:off x="361080" y="59760"/>
            <a:ext cx="702072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Trabalho de Graduação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4" name="Google Shape;114;g2da54814955_1_37"/>
          <p:cNvCxnSpPr/>
          <p:nvPr/>
        </p:nvCxnSpPr>
        <p:spPr>
          <a:xfrm>
            <a:off x="0" y="1211400"/>
            <a:ext cx="8620560" cy="2160"/>
          </a:xfrm>
          <a:prstGeom prst="straightConnector1">
            <a:avLst/>
          </a:prstGeom>
          <a:ln w="28575">
            <a:solidFill>
              <a:srgbClr val="a5a5a5"/>
            </a:solidFill>
            <a:round/>
          </a:ln>
        </p:spPr>
      </p:cxnSp>
      <p:sp>
        <p:nvSpPr>
          <p:cNvPr id="55" name="Google Shape;115;g2da54814955_1_37"/>
          <p:cNvSpPr/>
          <p:nvPr/>
        </p:nvSpPr>
        <p:spPr>
          <a:xfrm>
            <a:off x="263520" y="6223680"/>
            <a:ext cx="115005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30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Constructo – Desenho de plantas com calculadora integrada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116;g2da54814955_1_37"/>
          <p:cNvSpPr/>
          <p:nvPr/>
        </p:nvSpPr>
        <p:spPr>
          <a:xfrm>
            <a:off x="374040" y="516600"/>
            <a:ext cx="14763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rgbClr val="a5a5a5"/>
                </a:solidFill>
                <a:effectLst/>
                <a:uFillTx/>
                <a:latin typeface="Calibri"/>
                <a:ea typeface="Calibri"/>
              </a:rPr>
              <a:t>2025.1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Google Shape;117;g2da54814955_1_37" descr="Resultado de imagem para fatec sÃ£o roque"/>
          <p:cNvPicPr/>
          <p:nvPr/>
        </p:nvPicPr>
        <p:blipFill>
          <a:blip r:embed="rId1"/>
          <a:stretch/>
        </p:blipFill>
        <p:spPr>
          <a:xfrm>
            <a:off x="8170200" y="80280"/>
            <a:ext cx="3828240" cy="14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Google Shape;119;g2da54814955_1_37"/>
          <p:cNvSpPr/>
          <p:nvPr/>
        </p:nvSpPr>
        <p:spPr>
          <a:xfrm>
            <a:off x="374040" y="1360800"/>
            <a:ext cx="7794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Funcionalidades Principais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263520" y="1800000"/>
            <a:ext cx="6036120" cy="46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50000"/>
              </a:lnSpc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- Criação de projetos com nome, altura de parede, tipo de bloco e elementos construtivos.</a:t>
            </a:r>
            <a:br>
              <a:rPr sz="2600"/>
            </a:b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- Inserção de portas e janelas com dimensões e quantidades.</a:t>
            </a:r>
            <a:br>
              <a:rPr sz="2600"/>
            </a:b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- Desenho vetorial da planta baixa, com medição por teorema de Pitágoras.</a:t>
            </a:r>
            <a:br>
              <a:rPr sz="2600"/>
            </a:b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5760000" y="1800000"/>
            <a:ext cx="5759640" cy="42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>
              <a:lnSpc>
                <a:spcPct val="150000"/>
              </a:lnSpc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- Cálculo automático da área útil de parede.</a:t>
            </a: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</a:t>
            </a:r>
            <a:br>
              <a:rPr sz="2600"/>
            </a:b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- Estimativa de materiais: blocos, cimento, areia e água.</a:t>
            </a: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</a:t>
            </a:r>
            <a:br>
              <a:rPr sz="2600"/>
            </a:b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- Armazenamento e recuperação de projetos em banco de dados.</a:t>
            </a: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</a:t>
            </a:r>
            <a:br>
              <a:rPr sz="2600"/>
            </a:b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- Interface simples para uso via navegador, com foco na clareza visual.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24;g2da54814955_3_5"/>
          <p:cNvSpPr/>
          <p:nvPr/>
        </p:nvSpPr>
        <p:spPr>
          <a:xfrm>
            <a:off x="0" y="6246720"/>
            <a:ext cx="12191040" cy="646200"/>
          </a:xfrm>
          <a:prstGeom prst="rect">
            <a:avLst/>
          </a:prstGeom>
          <a:gradFill rotWithShape="0"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ad1916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62" name="Google Shape;125;g2da54814955_3_5"/>
          <p:cNvSpPr/>
          <p:nvPr/>
        </p:nvSpPr>
        <p:spPr>
          <a:xfrm>
            <a:off x="361080" y="59760"/>
            <a:ext cx="716832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Trabalho de Graduação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" name="Google Shape;126;g2da54814955_3_5"/>
          <p:cNvCxnSpPr/>
          <p:nvPr/>
        </p:nvCxnSpPr>
        <p:spPr>
          <a:xfrm>
            <a:off x="0" y="1211400"/>
            <a:ext cx="8620560" cy="2160"/>
          </a:xfrm>
          <a:prstGeom prst="straightConnector1">
            <a:avLst/>
          </a:prstGeom>
          <a:ln w="28575">
            <a:solidFill>
              <a:srgbClr val="a5a5a5"/>
            </a:solidFill>
            <a:round/>
          </a:ln>
        </p:spPr>
      </p:cxnSp>
      <p:sp>
        <p:nvSpPr>
          <p:cNvPr id="64" name="Google Shape;127;g2da54814955_3_5"/>
          <p:cNvSpPr/>
          <p:nvPr/>
        </p:nvSpPr>
        <p:spPr>
          <a:xfrm>
            <a:off x="263520" y="6236640"/>
            <a:ext cx="115005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30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Constructo – Desenho de plantas com calculadora integrada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128;g2da54814955_3_5"/>
          <p:cNvSpPr/>
          <p:nvPr/>
        </p:nvSpPr>
        <p:spPr>
          <a:xfrm>
            <a:off x="374040" y="516600"/>
            <a:ext cx="14763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rgbClr val="a5a5a5"/>
                </a:solidFill>
                <a:effectLst/>
                <a:uFillTx/>
                <a:latin typeface="Calibri"/>
                <a:ea typeface="Calibri"/>
              </a:rPr>
              <a:t>2025.1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Google Shape;129;g2da54814955_3_5" descr="Resultado de imagem para fatec sÃ£o roque"/>
          <p:cNvPicPr/>
          <p:nvPr/>
        </p:nvPicPr>
        <p:blipFill>
          <a:blip r:embed="rId1"/>
          <a:stretch/>
        </p:blipFill>
        <p:spPr>
          <a:xfrm>
            <a:off x="8170200" y="80280"/>
            <a:ext cx="3828240" cy="14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131;g2da54814955_3_5"/>
          <p:cNvSpPr/>
          <p:nvPr/>
        </p:nvSpPr>
        <p:spPr>
          <a:xfrm>
            <a:off x="374040" y="1360800"/>
            <a:ext cx="7794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Tecnologias Utilizadas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900000" y="2700000"/>
            <a:ext cx="1796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446040" y="2272680"/>
            <a:ext cx="5384880" cy="31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Frontend:</a:t>
            </a:r>
            <a:br>
              <a:rPr sz="2600"/>
            </a:b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- HTML5</a:t>
            </a:r>
            <a:br>
              <a:rPr sz="2600"/>
            </a:b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- CSS3</a:t>
            </a:r>
            <a:br>
              <a:rPr sz="2600"/>
            </a:b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- JavaScript (sem bibliotecas externas)</a:t>
            </a:r>
            <a:br>
              <a:rPr sz="2600"/>
            </a:br>
            <a:br>
              <a:rPr sz="2600"/>
            </a:br>
            <a:r>
              <a:rPr b="1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Backend:</a:t>
            </a:r>
            <a:br>
              <a:rPr sz="2600"/>
            </a:b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- PHP</a:t>
            </a:r>
            <a:br>
              <a:rPr sz="2600"/>
            </a:b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- API RESTful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6168240" y="2268000"/>
            <a:ext cx="5711040" cy="28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Banco de Dados:</a:t>
            </a:r>
            <a:br>
              <a:rPr sz="2600"/>
            </a:b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- MySQL (uso de JSON para armazenar estruturas vetoriais e atributos dos projetos)</a:t>
            </a:r>
            <a:br>
              <a:rPr sz="2600"/>
            </a:br>
            <a:br>
              <a:rPr sz="2600"/>
            </a:br>
            <a:r>
              <a:rPr b="1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Ambiente de Desenvolvimento:</a:t>
            </a:r>
            <a:br>
              <a:rPr sz="2600"/>
            </a:b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- XAMPP (Apache, PHP, MySQL)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136;g2da54814955_3_16"/>
          <p:cNvSpPr/>
          <p:nvPr/>
        </p:nvSpPr>
        <p:spPr>
          <a:xfrm>
            <a:off x="1080" y="6156000"/>
            <a:ext cx="12189960" cy="705960"/>
          </a:xfrm>
          <a:prstGeom prst="rect">
            <a:avLst/>
          </a:prstGeom>
          <a:gradFill rotWithShape="0"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ad1916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72" name="Google Shape;137;g2da54814955_3_16"/>
          <p:cNvSpPr/>
          <p:nvPr/>
        </p:nvSpPr>
        <p:spPr>
          <a:xfrm>
            <a:off x="361080" y="59760"/>
            <a:ext cx="749268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Trabalho de Graduação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3" name="Google Shape;138;g2da54814955_3_16"/>
          <p:cNvCxnSpPr/>
          <p:nvPr/>
        </p:nvCxnSpPr>
        <p:spPr>
          <a:xfrm>
            <a:off x="0" y="1211400"/>
            <a:ext cx="8620560" cy="2160"/>
          </a:xfrm>
          <a:prstGeom prst="straightConnector1">
            <a:avLst/>
          </a:prstGeom>
          <a:ln w="28575">
            <a:solidFill>
              <a:srgbClr val="a5a5a5"/>
            </a:solidFill>
            <a:round/>
          </a:ln>
        </p:spPr>
      </p:cxnSp>
      <p:sp>
        <p:nvSpPr>
          <p:cNvPr id="74" name="Google Shape;139;g2da54814955_3_16"/>
          <p:cNvSpPr/>
          <p:nvPr/>
        </p:nvSpPr>
        <p:spPr>
          <a:xfrm>
            <a:off x="263520" y="6223680"/>
            <a:ext cx="115005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30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Constructo – Desenho de plantas com calculadora integrada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140;g2da54814955_3_16"/>
          <p:cNvSpPr/>
          <p:nvPr/>
        </p:nvSpPr>
        <p:spPr>
          <a:xfrm>
            <a:off x="374040" y="516600"/>
            <a:ext cx="14763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rgbClr val="a5a5a5"/>
                </a:solidFill>
                <a:effectLst/>
                <a:uFillTx/>
                <a:latin typeface="Calibri"/>
                <a:ea typeface="Calibri"/>
              </a:rPr>
              <a:t>2025.1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Google Shape;141;g2da54814955_3_16" descr="Resultado de imagem para fatec sÃ£o roque"/>
          <p:cNvPicPr/>
          <p:nvPr/>
        </p:nvPicPr>
        <p:blipFill>
          <a:blip r:embed="rId1"/>
          <a:stretch/>
        </p:blipFill>
        <p:spPr>
          <a:xfrm>
            <a:off x="8170200" y="80280"/>
            <a:ext cx="3828240" cy="14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4903200" y="3126960"/>
            <a:ext cx="247572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3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Demonstração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284;g2da54814955_3_58"/>
          <p:cNvSpPr/>
          <p:nvPr/>
        </p:nvSpPr>
        <p:spPr>
          <a:xfrm>
            <a:off x="0" y="6120000"/>
            <a:ext cx="12191040" cy="772920"/>
          </a:xfrm>
          <a:prstGeom prst="rect">
            <a:avLst/>
          </a:prstGeom>
          <a:gradFill rotWithShape="0"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ad1916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79" name="Google Shape;285;g2da54814955_3_58"/>
          <p:cNvSpPr/>
          <p:nvPr/>
        </p:nvSpPr>
        <p:spPr>
          <a:xfrm>
            <a:off x="361080" y="59760"/>
            <a:ext cx="689292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Trabalho de Graduação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" name="Google Shape;286;g2da54814955_3_58"/>
          <p:cNvCxnSpPr/>
          <p:nvPr/>
        </p:nvCxnSpPr>
        <p:spPr>
          <a:xfrm>
            <a:off x="0" y="1211400"/>
            <a:ext cx="8620560" cy="2160"/>
          </a:xfrm>
          <a:prstGeom prst="straightConnector1">
            <a:avLst/>
          </a:prstGeom>
          <a:ln w="28575">
            <a:solidFill>
              <a:srgbClr val="a5a5a5"/>
            </a:solidFill>
            <a:round/>
          </a:ln>
        </p:spPr>
      </p:cxnSp>
      <p:sp>
        <p:nvSpPr>
          <p:cNvPr id="81" name="Google Shape;287;g2da54814955_3_58"/>
          <p:cNvSpPr/>
          <p:nvPr/>
        </p:nvSpPr>
        <p:spPr>
          <a:xfrm>
            <a:off x="263520" y="6223680"/>
            <a:ext cx="115005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30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Constructo – Desenho de plantas com calculadora integrada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288;g2da54814955_3_58"/>
          <p:cNvSpPr/>
          <p:nvPr/>
        </p:nvSpPr>
        <p:spPr>
          <a:xfrm>
            <a:off x="374040" y="516600"/>
            <a:ext cx="14763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rgbClr val="a5a5a5"/>
                </a:solidFill>
                <a:effectLst/>
                <a:uFillTx/>
                <a:latin typeface="Calibri"/>
                <a:ea typeface="Calibri"/>
              </a:rPr>
              <a:t>2025.1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Google Shape;289;g2da54814955_3_58" descr="Resultado de imagem para fatec sÃ£o roque"/>
          <p:cNvPicPr/>
          <p:nvPr/>
        </p:nvPicPr>
        <p:blipFill>
          <a:blip r:embed="rId1"/>
          <a:stretch/>
        </p:blipFill>
        <p:spPr>
          <a:xfrm>
            <a:off x="8170200" y="80280"/>
            <a:ext cx="3828240" cy="14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Google Shape;290;g2da54814955_3_58"/>
          <p:cNvSpPr/>
          <p:nvPr/>
        </p:nvSpPr>
        <p:spPr>
          <a:xfrm>
            <a:off x="801360" y="1875600"/>
            <a:ext cx="10717560" cy="40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Cálculo entre 2 pontos (com coordenadas)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2060"/>
                </a:solidFill>
                <a:effectLst/>
                <a:uFillTx/>
                <a:latin typeface="Consolas"/>
                <a:ea typeface="Arial"/>
              </a:rPr>
              <a:t>Comprimento = Math.sqrt(Math.pow(endX-startX,2)+Math.pow(endY-startY,2)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Conversão de Coordenadas para Metros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2060"/>
                </a:solidFill>
                <a:effectLst/>
                <a:uFillTx/>
                <a:latin typeface="Consolas"/>
                <a:ea typeface="Calibri"/>
              </a:rPr>
              <a:t>comprimento / tamanhoQuadrado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Calculo área das Aberturas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trike="noStrike" u="none">
                <a:solidFill>
                  <a:srgbClr val="002060"/>
                </a:solidFill>
                <a:effectLst/>
                <a:uFillTx/>
                <a:latin typeface="Consolas"/>
                <a:ea typeface="Arial"/>
              </a:rPr>
              <a:t>areaTotalAberturas += largura * altura * quantidade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Cálculo dos Blocos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trike="noStrike" u="none">
                <a:solidFill>
                  <a:srgbClr val="002060"/>
                </a:solidFill>
                <a:effectLst/>
                <a:uFillTx/>
                <a:latin typeface="Consolas"/>
                <a:ea typeface="Arial"/>
              </a:rPr>
              <a:t>areaTotalAberturas = calcularAreaAberturas();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trike="noStrike" u="none">
                <a:solidFill>
                  <a:srgbClr val="002060"/>
                </a:solidFill>
                <a:effectLst/>
                <a:uFillTx/>
                <a:latin typeface="Consolas"/>
                <a:ea typeface="Arial"/>
              </a:rPr>
              <a:t>areaParede = (calcularComprimentoParede() * alturaParede) - areaTotalAberturas;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trike="noStrike" u="none">
                <a:solidFill>
                  <a:srgbClr val="002060"/>
                </a:solidFill>
                <a:effectLst/>
                <a:uFillTx/>
                <a:latin typeface="Consolas"/>
                <a:ea typeface="Arial"/>
              </a:rPr>
              <a:t>areaBloco = dimensoesBloco.comprimento * dimensoesBloco.altura;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trike="noStrike" u="none">
                <a:solidFill>
                  <a:srgbClr val="002060"/>
                </a:solidFill>
                <a:effectLst/>
                <a:uFillTx/>
                <a:latin typeface="Consolas"/>
                <a:ea typeface="Arial"/>
              </a:rPr>
              <a:t>numeroBlocos = Math.ceil(areaParede / areaBloco);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291;g2da54814955_3_58"/>
          <p:cNvSpPr/>
          <p:nvPr/>
        </p:nvSpPr>
        <p:spPr>
          <a:xfrm>
            <a:off x="374040" y="1360800"/>
            <a:ext cx="9281880" cy="73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Cálculos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36;g2da54814955_3_ 1"/>
          <p:cNvSpPr/>
          <p:nvPr/>
        </p:nvSpPr>
        <p:spPr>
          <a:xfrm>
            <a:off x="1080" y="6223680"/>
            <a:ext cx="12189960" cy="638280"/>
          </a:xfrm>
          <a:prstGeom prst="rect">
            <a:avLst/>
          </a:prstGeom>
          <a:gradFill rotWithShape="0"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ad1916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87" name="Google Shape;139;g2da54814955_3_ 1"/>
          <p:cNvSpPr/>
          <p:nvPr/>
        </p:nvSpPr>
        <p:spPr>
          <a:xfrm>
            <a:off x="263520" y="6223680"/>
            <a:ext cx="115005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30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Constructo – Desenho de plantas com calculadora integrada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284;g2da54814955_3_58"/>
          <p:cNvSpPr/>
          <p:nvPr/>
        </p:nvSpPr>
        <p:spPr>
          <a:xfrm>
            <a:off x="1080" y="6156000"/>
            <a:ext cx="12189960" cy="705960"/>
          </a:xfrm>
          <a:prstGeom prst="rect">
            <a:avLst/>
          </a:prstGeom>
          <a:gradFill rotWithShape="0"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ad1916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89" name="Google Shape;285;g2da54814955_3_58"/>
          <p:cNvSpPr/>
          <p:nvPr/>
        </p:nvSpPr>
        <p:spPr>
          <a:xfrm>
            <a:off x="361080" y="59760"/>
            <a:ext cx="689292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Trabalho de Graduação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" name="Google Shape;286;g2da54814955_3_58"/>
          <p:cNvCxnSpPr/>
          <p:nvPr/>
        </p:nvCxnSpPr>
        <p:spPr>
          <a:xfrm>
            <a:off x="0" y="1211400"/>
            <a:ext cx="8620560" cy="2160"/>
          </a:xfrm>
          <a:prstGeom prst="straightConnector1">
            <a:avLst/>
          </a:prstGeom>
          <a:ln w="28575">
            <a:solidFill>
              <a:srgbClr val="a5a5a5"/>
            </a:solidFill>
            <a:round/>
          </a:ln>
        </p:spPr>
      </p:cxnSp>
      <p:sp>
        <p:nvSpPr>
          <p:cNvPr id="91" name="Google Shape;287;g2da54814955_3_58"/>
          <p:cNvSpPr/>
          <p:nvPr/>
        </p:nvSpPr>
        <p:spPr>
          <a:xfrm>
            <a:off x="263520" y="6223680"/>
            <a:ext cx="115005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30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Constructo – Desenho de plantas com calculadora integrada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288;g2da54814955_3_58"/>
          <p:cNvSpPr/>
          <p:nvPr/>
        </p:nvSpPr>
        <p:spPr>
          <a:xfrm>
            <a:off x="374040" y="516600"/>
            <a:ext cx="14763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rgbClr val="a5a5a5"/>
                </a:solidFill>
                <a:effectLst/>
                <a:uFillTx/>
                <a:latin typeface="Calibri"/>
                <a:ea typeface="Calibri"/>
              </a:rPr>
              <a:t>2025.1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Google Shape;289;g2da54814955_3_58" descr="Resultado de imagem para fatec sÃ£o roque"/>
          <p:cNvPicPr/>
          <p:nvPr/>
        </p:nvPicPr>
        <p:blipFill>
          <a:blip r:embed="rId1"/>
          <a:stretch/>
        </p:blipFill>
        <p:spPr>
          <a:xfrm>
            <a:off x="8170200" y="80280"/>
            <a:ext cx="3828240" cy="14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Google Shape;290;g2da54814955_3_58"/>
          <p:cNvSpPr/>
          <p:nvPr/>
        </p:nvSpPr>
        <p:spPr>
          <a:xfrm>
            <a:off x="801360" y="1875600"/>
            <a:ext cx="10537560" cy="40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343080" indent="-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pt-BR" sz="2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Consumo de argamassa (L/bloco): Varia conforme a espessura da junta.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pt-BR" sz="2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Traço da argamassa (cimento:areia): Define a proporção de materiais na mistura.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pt-BR" sz="2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Relação Água/Cimento (L/kg): Indica quantos litros de água são necessários por kg de cimento, considerando a absorção do bloco.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291;g2da54814955_3_58"/>
          <p:cNvSpPr/>
          <p:nvPr/>
        </p:nvSpPr>
        <p:spPr>
          <a:xfrm>
            <a:off x="374040" y="1360800"/>
            <a:ext cx="9281880" cy="73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Cálculos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284;g2da54814955_3_ 1"/>
          <p:cNvSpPr/>
          <p:nvPr/>
        </p:nvSpPr>
        <p:spPr>
          <a:xfrm>
            <a:off x="1080" y="6168960"/>
            <a:ext cx="12189960" cy="705960"/>
          </a:xfrm>
          <a:prstGeom prst="rect">
            <a:avLst/>
          </a:prstGeom>
          <a:gradFill rotWithShape="0"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ad1916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97" name="Google Shape;285;g2da54814955_3_ 2"/>
          <p:cNvSpPr/>
          <p:nvPr/>
        </p:nvSpPr>
        <p:spPr>
          <a:xfrm>
            <a:off x="361080" y="59760"/>
            <a:ext cx="689292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Trabalho de Graduação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8" name="Google Shape;286;g2da54814955_3_ 2"/>
          <p:cNvCxnSpPr/>
          <p:nvPr/>
        </p:nvCxnSpPr>
        <p:spPr>
          <a:xfrm>
            <a:off x="0" y="1211400"/>
            <a:ext cx="8620560" cy="2160"/>
          </a:xfrm>
          <a:prstGeom prst="straightConnector1">
            <a:avLst/>
          </a:prstGeom>
          <a:ln w="28575">
            <a:solidFill>
              <a:srgbClr val="a5a5a5"/>
            </a:solidFill>
            <a:round/>
          </a:ln>
        </p:spPr>
      </p:cxnSp>
      <p:sp>
        <p:nvSpPr>
          <p:cNvPr id="99" name="Google Shape;287;g2da54814955_3_ 2"/>
          <p:cNvSpPr/>
          <p:nvPr/>
        </p:nvSpPr>
        <p:spPr>
          <a:xfrm>
            <a:off x="263520" y="6223680"/>
            <a:ext cx="115005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30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Constructo – Desenho de plantas com calculadora integrada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288;g2da54814955_3_ 2"/>
          <p:cNvSpPr/>
          <p:nvPr/>
        </p:nvSpPr>
        <p:spPr>
          <a:xfrm>
            <a:off x="374040" y="516600"/>
            <a:ext cx="14763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rgbClr val="a5a5a5"/>
                </a:solidFill>
                <a:effectLst/>
                <a:uFillTx/>
                <a:latin typeface="Calibri"/>
                <a:ea typeface="Calibri"/>
              </a:rPr>
              <a:t>2025.1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Google Shape;289;g2da54814955_3_ 2" descr="Resultado de imagem para fatec sÃ£o roque"/>
          <p:cNvPicPr/>
          <p:nvPr/>
        </p:nvPicPr>
        <p:blipFill>
          <a:blip r:embed="rId1"/>
          <a:stretch/>
        </p:blipFill>
        <p:spPr>
          <a:xfrm>
            <a:off x="8170200" y="80280"/>
            <a:ext cx="3828240" cy="14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Google Shape;290;g2da54814955_3_ 2"/>
          <p:cNvSpPr/>
          <p:nvPr/>
        </p:nvSpPr>
        <p:spPr>
          <a:xfrm>
            <a:off x="801360" y="1712160"/>
            <a:ext cx="11257560" cy="40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343080" indent="-343080">
              <a:lnSpc>
                <a:spcPct val="2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Volume Argamassa: </a:t>
            </a:r>
            <a:r>
              <a:rPr b="0" lang="pt-BR" sz="1600" strike="noStrike" u="none">
                <a:solidFill>
                  <a:srgbClr val="002060"/>
                </a:solidFill>
                <a:effectLst/>
                <a:uFillTx/>
                <a:latin typeface="Calibri"/>
                <a:ea typeface="Calibri"/>
              </a:rPr>
              <a:t>numBlocos * params.consumoArgamassa; 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2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Volume Cimento: </a:t>
            </a:r>
            <a:r>
              <a:rPr b="0" lang="pt-BR" sz="1600" strike="noStrike" u="none">
                <a:solidFill>
                  <a:srgbClr val="002060"/>
                </a:solidFill>
                <a:effectLst/>
                <a:uFillTx/>
                <a:latin typeface="Calibri"/>
                <a:ea typeface="Calibri"/>
              </a:rPr>
              <a:t>volumeArgamassa / (params.traco.cimento + params.traco.areia);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Cimento</a:t>
            </a:r>
            <a:r>
              <a:rPr b="0" lang="pt-BR" sz="1600" strike="noStrike" u="none">
                <a:solidFill>
                  <a:srgbClr val="3465a4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b="0" lang="pt-BR" sz="1600" strike="noStrike" u="none">
                <a:solidFill>
                  <a:srgbClr val="002060"/>
                </a:solidFill>
                <a:effectLst/>
                <a:uFillTx/>
                <a:latin typeface="Calibri"/>
                <a:ea typeface="Calibri"/>
              </a:rPr>
              <a:t>(volumeCimento / 0.0357 * 1.1).toFixed(1) ,   </a:t>
            </a:r>
            <a:r>
              <a:rPr b="0" lang="pt-BR" sz="1600" strike="noStrike" u="none">
                <a:solidFill>
                  <a:srgbClr val="3465a4"/>
                </a:solidFill>
                <a:effectLst/>
                <a:uFillTx/>
                <a:latin typeface="Calibri"/>
                <a:ea typeface="Calibri"/>
              </a:rPr>
              <a:t>   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Areia</a:t>
            </a:r>
            <a:r>
              <a:rPr b="1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:</a:t>
            </a:r>
            <a:r>
              <a:rPr b="0" lang="pt-BR" sz="1600" strike="noStrike" u="none">
                <a:solidFill>
                  <a:srgbClr val="002060"/>
                </a:solidFill>
                <a:effectLst/>
                <a:uFillTx/>
                <a:latin typeface="Calibri"/>
                <a:ea typeface="Calibri"/>
              </a:rPr>
              <a:t> (volumeArgamassa * (params.traco.areia / (params.traco.cimento + params.traco.areia)) * 1.1).toFixed(3),  </a:t>
            </a:r>
            <a:r>
              <a:rPr b="0" lang="pt-BR" sz="1600" strike="noStrike" u="none">
                <a:solidFill>
                  <a:srgbClr val="3465a4"/>
                </a:solidFill>
                <a:effectLst/>
                <a:uFillTx/>
                <a:latin typeface="Calibri"/>
                <a:ea typeface="Calibri"/>
              </a:rPr>
              <a:t>     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Água</a:t>
            </a:r>
            <a:r>
              <a:rPr b="1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:</a:t>
            </a:r>
            <a:r>
              <a:rPr b="0" lang="pt-BR" sz="1600" strike="noStrike" u="none">
                <a:solidFill>
                  <a:srgbClr val="3465a4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b="0" lang="pt-BR" sz="1600" strike="noStrike" u="none">
                <a:solidFill>
                  <a:srgbClr val="002060"/>
                </a:solidFill>
                <a:effectLst/>
                <a:uFillTx/>
                <a:latin typeface="Calibri"/>
                <a:ea typeface="Calibri"/>
              </a:rPr>
              <a:t>(volumeCimento * 1400 * params.relacaoAC * 1.1).toFixed(1) </a:t>
            </a:r>
            <a:r>
              <a:rPr b="0" lang="pt-BR" sz="2600" strike="noStrike" u="none">
                <a:solidFill>
                  <a:srgbClr val="00206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291;g2da54814955_3_ 2"/>
          <p:cNvSpPr/>
          <p:nvPr/>
        </p:nvSpPr>
        <p:spPr>
          <a:xfrm>
            <a:off x="374040" y="1360800"/>
            <a:ext cx="9281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Cálculos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284;g2da54814955_3_58"/>
          <p:cNvSpPr/>
          <p:nvPr/>
        </p:nvSpPr>
        <p:spPr>
          <a:xfrm>
            <a:off x="1080" y="6156000"/>
            <a:ext cx="12189960" cy="705960"/>
          </a:xfrm>
          <a:prstGeom prst="rect">
            <a:avLst/>
          </a:prstGeom>
          <a:gradFill rotWithShape="0"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ad1916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05" name="Google Shape;285;g2da54814955_3_58"/>
          <p:cNvSpPr/>
          <p:nvPr/>
        </p:nvSpPr>
        <p:spPr>
          <a:xfrm>
            <a:off x="361080" y="59760"/>
            <a:ext cx="689292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Trabalho de Graduação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6" name="Google Shape;286;g2da54814955_3_58"/>
          <p:cNvCxnSpPr/>
          <p:nvPr/>
        </p:nvCxnSpPr>
        <p:spPr>
          <a:xfrm>
            <a:off x="0" y="1211400"/>
            <a:ext cx="8620560" cy="2160"/>
          </a:xfrm>
          <a:prstGeom prst="straightConnector1">
            <a:avLst/>
          </a:prstGeom>
          <a:ln w="28575">
            <a:solidFill>
              <a:srgbClr val="a5a5a5"/>
            </a:solidFill>
            <a:round/>
          </a:ln>
        </p:spPr>
      </p:cxnSp>
      <p:sp>
        <p:nvSpPr>
          <p:cNvPr id="107" name="Google Shape;287;g2da54814955_3_58"/>
          <p:cNvSpPr/>
          <p:nvPr/>
        </p:nvSpPr>
        <p:spPr>
          <a:xfrm>
            <a:off x="263520" y="6223680"/>
            <a:ext cx="115005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30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Constructo – Desenho de plantas com calculadora integrada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288;g2da54814955_3_58"/>
          <p:cNvSpPr/>
          <p:nvPr/>
        </p:nvSpPr>
        <p:spPr>
          <a:xfrm>
            <a:off x="374040" y="516600"/>
            <a:ext cx="14763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rgbClr val="a5a5a5"/>
                </a:solidFill>
                <a:effectLst/>
                <a:uFillTx/>
                <a:latin typeface="Calibri"/>
                <a:ea typeface="Calibri"/>
              </a:rPr>
              <a:t>2025.1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Google Shape;289;g2da54814955_3_58" descr="Resultado de imagem para fatec sÃ£o roque"/>
          <p:cNvPicPr/>
          <p:nvPr/>
        </p:nvPicPr>
        <p:blipFill>
          <a:blip r:embed="rId1"/>
          <a:stretch/>
        </p:blipFill>
        <p:spPr>
          <a:xfrm>
            <a:off x="8170200" y="80280"/>
            <a:ext cx="3828240" cy="14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Google Shape;291;g2da54814955_3_58"/>
          <p:cNvSpPr/>
          <p:nvPr/>
        </p:nvSpPr>
        <p:spPr>
          <a:xfrm>
            <a:off x="374040" y="1360800"/>
            <a:ext cx="11376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Estrutura dos Projetos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1317600" y="1972800"/>
            <a:ext cx="8941680" cy="40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Cada projeto é armazenado com os seguintes elementos:</a:t>
            </a:r>
            <a:br>
              <a:rPr sz="2600"/>
            </a:b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- alturaParede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2600"/>
            </a:b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- nomeProjeto</a:t>
            </a:r>
            <a:br>
              <a:rPr sz="2600"/>
            </a:b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- tipoBloco</a:t>
            </a:r>
            <a:br>
              <a:rPr sz="2600"/>
            </a:b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- stack (linhas desenhadas com coordenadas vetoriais)</a:t>
            </a:r>
            <a:br>
              <a:rPr sz="2600"/>
            </a:b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- portasJanelas (lista de objetos com largura, altura e quantidade)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284;g2da54814955_3_ 2"/>
          <p:cNvSpPr/>
          <p:nvPr/>
        </p:nvSpPr>
        <p:spPr>
          <a:xfrm>
            <a:off x="1080" y="6156000"/>
            <a:ext cx="12189960" cy="705960"/>
          </a:xfrm>
          <a:prstGeom prst="rect">
            <a:avLst/>
          </a:prstGeom>
          <a:gradFill rotWithShape="0"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ad1916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13" name="Google Shape;285;g2da54814955_3_ 3"/>
          <p:cNvSpPr/>
          <p:nvPr/>
        </p:nvSpPr>
        <p:spPr>
          <a:xfrm>
            <a:off x="361080" y="59760"/>
            <a:ext cx="689292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Trabalho de Graduação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4" name="Google Shape;286;g2da54814955_3_ 3"/>
          <p:cNvCxnSpPr/>
          <p:nvPr/>
        </p:nvCxnSpPr>
        <p:spPr>
          <a:xfrm>
            <a:off x="0" y="1211400"/>
            <a:ext cx="8620560" cy="2160"/>
          </a:xfrm>
          <a:prstGeom prst="straightConnector1">
            <a:avLst/>
          </a:prstGeom>
          <a:ln w="28575">
            <a:solidFill>
              <a:srgbClr val="a5a5a5"/>
            </a:solidFill>
            <a:round/>
          </a:ln>
        </p:spPr>
      </p:cxnSp>
      <p:sp>
        <p:nvSpPr>
          <p:cNvPr id="115" name="Google Shape;287;g2da54814955_3_ 3"/>
          <p:cNvSpPr/>
          <p:nvPr/>
        </p:nvSpPr>
        <p:spPr>
          <a:xfrm>
            <a:off x="263520" y="6223680"/>
            <a:ext cx="115005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30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Constructo – Desenho de plantas com calculadora integrada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288;g2da54814955_3_ 3"/>
          <p:cNvSpPr/>
          <p:nvPr/>
        </p:nvSpPr>
        <p:spPr>
          <a:xfrm>
            <a:off x="374040" y="516600"/>
            <a:ext cx="14763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rgbClr val="a5a5a5"/>
                </a:solidFill>
                <a:effectLst/>
                <a:uFillTx/>
                <a:latin typeface="Calibri"/>
                <a:ea typeface="Calibri"/>
              </a:rPr>
              <a:t>2025.1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Google Shape;289;g2da54814955_3_ 3" descr="Resultado de imagem para fatec sÃ£o roque"/>
          <p:cNvPicPr/>
          <p:nvPr/>
        </p:nvPicPr>
        <p:blipFill>
          <a:blip r:embed="rId1"/>
          <a:stretch/>
        </p:blipFill>
        <p:spPr>
          <a:xfrm>
            <a:off x="8170200" y="80280"/>
            <a:ext cx="3828240" cy="14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Google Shape;291;g2da54814955_3_ 3"/>
          <p:cNvSpPr/>
          <p:nvPr/>
        </p:nvSpPr>
        <p:spPr>
          <a:xfrm>
            <a:off x="374040" y="1360800"/>
            <a:ext cx="11376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Resultados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1620000" y="2375640"/>
            <a:ext cx="8818920" cy="30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O Constructo foi validado em ambiente local, sendo capaz de gerar estimativas realistas de materiais com base em projetos simples. 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Seu modelo de dados flexível e interface clara o tornam uma ferramenta promissora para uso em ações comunitárias, projetos de extensão e iniciativas de planejamento urbano acessível.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284;g2da54814955_3_ 3"/>
          <p:cNvSpPr/>
          <p:nvPr/>
        </p:nvSpPr>
        <p:spPr>
          <a:xfrm>
            <a:off x="1080" y="6156000"/>
            <a:ext cx="12189960" cy="705960"/>
          </a:xfrm>
          <a:prstGeom prst="rect">
            <a:avLst/>
          </a:prstGeom>
          <a:gradFill rotWithShape="0"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ad1916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21" name="Google Shape;285;g2da54814955_3_ 4"/>
          <p:cNvSpPr/>
          <p:nvPr/>
        </p:nvSpPr>
        <p:spPr>
          <a:xfrm>
            <a:off x="361080" y="59760"/>
            <a:ext cx="689292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Trabalho de Graduação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2" name="Google Shape;286;g2da54814955_3_ 4"/>
          <p:cNvCxnSpPr/>
          <p:nvPr/>
        </p:nvCxnSpPr>
        <p:spPr>
          <a:xfrm>
            <a:off x="0" y="1211400"/>
            <a:ext cx="8620560" cy="2160"/>
          </a:xfrm>
          <a:prstGeom prst="straightConnector1">
            <a:avLst/>
          </a:prstGeom>
          <a:ln w="28575">
            <a:solidFill>
              <a:srgbClr val="a5a5a5"/>
            </a:solidFill>
            <a:round/>
          </a:ln>
        </p:spPr>
      </p:cxnSp>
      <p:sp>
        <p:nvSpPr>
          <p:cNvPr id="123" name="Google Shape;287;g2da54814955_3_ 4"/>
          <p:cNvSpPr/>
          <p:nvPr/>
        </p:nvSpPr>
        <p:spPr>
          <a:xfrm>
            <a:off x="263520" y="6223680"/>
            <a:ext cx="115005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30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Constructo – Desenho de plantas com calculadora integrada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88;g2da54814955_3_ 4"/>
          <p:cNvSpPr/>
          <p:nvPr/>
        </p:nvSpPr>
        <p:spPr>
          <a:xfrm>
            <a:off x="374040" y="516600"/>
            <a:ext cx="14763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rgbClr val="a5a5a5"/>
                </a:solidFill>
                <a:effectLst/>
                <a:uFillTx/>
                <a:latin typeface="Calibri"/>
                <a:ea typeface="Calibri"/>
              </a:rPr>
              <a:t>2025.1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89;g2da54814955_3_ 4" descr="Resultado de imagem para fatec sÃ£o roque"/>
          <p:cNvPicPr/>
          <p:nvPr/>
        </p:nvPicPr>
        <p:blipFill>
          <a:blip r:embed="rId1"/>
          <a:stretch/>
        </p:blipFill>
        <p:spPr>
          <a:xfrm>
            <a:off x="8170200" y="80280"/>
            <a:ext cx="3828240" cy="14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Google Shape;291;g2da54814955_3_ 4"/>
          <p:cNvSpPr/>
          <p:nvPr/>
        </p:nvSpPr>
        <p:spPr>
          <a:xfrm>
            <a:off x="374040" y="1360800"/>
            <a:ext cx="11376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Considerações finais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900000" y="2186640"/>
            <a:ext cx="10798920" cy="267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O Constructo combina simplicidade de uso com precisão técnica. 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Sua estrutura modular e uso de tecnologias acessíveis permitem futura expansão para dispositivos móveis, exportação de projetos, autenticação de usuários e integração com iniciativas de habitação popular. 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1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É um exemplo de como a tecnologia pode ser aplicada com impacto social real.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297;g2da54814955_3_80"/>
          <p:cNvSpPr/>
          <p:nvPr/>
        </p:nvSpPr>
        <p:spPr>
          <a:xfrm>
            <a:off x="1080" y="6156000"/>
            <a:ext cx="12189960" cy="705960"/>
          </a:xfrm>
          <a:prstGeom prst="rect">
            <a:avLst/>
          </a:prstGeom>
          <a:gradFill rotWithShape="0"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ad1916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29" name="Google Shape;298;g2da54814955_3_80"/>
          <p:cNvSpPr/>
          <p:nvPr/>
        </p:nvSpPr>
        <p:spPr>
          <a:xfrm>
            <a:off x="361080" y="59760"/>
            <a:ext cx="681408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Trabalho de Graduação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0" name="Google Shape;299;g2da54814955_3_80"/>
          <p:cNvCxnSpPr/>
          <p:nvPr/>
        </p:nvCxnSpPr>
        <p:spPr>
          <a:xfrm>
            <a:off x="0" y="1211400"/>
            <a:ext cx="8620560" cy="2160"/>
          </a:xfrm>
          <a:prstGeom prst="straightConnector1">
            <a:avLst/>
          </a:prstGeom>
          <a:ln w="28575">
            <a:solidFill>
              <a:srgbClr val="a5a5a5"/>
            </a:solidFill>
            <a:round/>
          </a:ln>
        </p:spPr>
      </p:cxnSp>
      <p:sp>
        <p:nvSpPr>
          <p:cNvPr id="131" name="Google Shape;300;g2da54814955_3_80"/>
          <p:cNvSpPr/>
          <p:nvPr/>
        </p:nvSpPr>
        <p:spPr>
          <a:xfrm>
            <a:off x="263520" y="6223680"/>
            <a:ext cx="115005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30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Constructo – Desenho de plantas com calculadora integrada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301;g2da54814955_3_80"/>
          <p:cNvSpPr/>
          <p:nvPr/>
        </p:nvSpPr>
        <p:spPr>
          <a:xfrm>
            <a:off x="374040" y="516600"/>
            <a:ext cx="14763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38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rgbClr val="a5a5a5"/>
                </a:solidFill>
                <a:effectLst/>
                <a:uFillTx/>
                <a:latin typeface="Calibri"/>
                <a:ea typeface="Calibri"/>
              </a:rPr>
              <a:t>2025.1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302;g2da54814955_3_80" descr="Resultado de imagem para fatec sÃ£o roque"/>
          <p:cNvPicPr/>
          <p:nvPr/>
        </p:nvPicPr>
        <p:blipFill>
          <a:blip r:embed="rId1"/>
          <a:stretch/>
        </p:blipFill>
        <p:spPr>
          <a:xfrm>
            <a:off x="8170200" y="80280"/>
            <a:ext cx="3828240" cy="14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Google Shape;303;g2da54814955_3_80"/>
          <p:cNvSpPr/>
          <p:nvPr/>
        </p:nvSpPr>
        <p:spPr>
          <a:xfrm>
            <a:off x="408600" y="3085200"/>
            <a:ext cx="11352600" cy="84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3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Agradecimentos</a:t>
            </a:r>
            <a:endParaRPr b="0" lang="pt-BR" sz="4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4FF1C3B01986C4AB66F7E0E56356C01" ma:contentTypeVersion="11" ma:contentTypeDescription="Crie um novo documento." ma:contentTypeScope="" ma:versionID="af482a0aabf7c547265ff130ccaba13b">
  <xsd:schema xmlns:xsd="http://www.w3.org/2001/XMLSchema" xmlns:xs="http://www.w3.org/2001/XMLSchema" xmlns:p="http://schemas.microsoft.com/office/2006/metadata/properties" xmlns:ns2="3ebb2073-bbac-4e65-95c8-88d8ed2afb4f" xmlns:ns3="327f734b-3a97-4388-9df9-8c80004d5538" targetNamespace="http://schemas.microsoft.com/office/2006/metadata/properties" ma:root="true" ma:fieldsID="05903f2cd1a279f8be69cab4e233febb" ns2:_="" ns3:_="">
    <xsd:import namespace="3ebb2073-bbac-4e65-95c8-88d8ed2afb4f"/>
    <xsd:import namespace="327f734b-3a97-4388-9df9-8c80004d55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b2073-bbac-4e65-95c8-88d8ed2afb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7f734b-3a97-4388-9df9-8c80004d553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061b1b5-4947-4ea0-9c80-6445be4b01df}" ma:internalName="TaxCatchAll" ma:showField="CatchAllData" ma:web="327f734b-3a97-4388-9df9-8c80004d55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0C657C9-A2D7-4463-A2AA-250C9EC266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bb2073-bbac-4e65-95c8-88d8ed2afb4f"/>
    <ds:schemaRef ds:uri="327f734b-3a97-4388-9df9-8c80004d553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1B4A0ED-F809-4F6A-8E94-EBCDF08965A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3566</TotalTime>
  <Application>LibreOffice/25.2.4.3$Windows_X86_64 LibreOffice_project/33e196637044ead23f5c3226cde09b47731f7e27</Application>
  <AppVersion>15.0000</AppVersion>
  <Words>585</Words>
  <Paragraphs>158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2013-10-10T17:31:52Z</dcterms:created>
  <dc:creator>Adriana Paula Borges</dc:creator>
  <dc:description/>
  <dc:language>pt-BR</dc:language>
  <cp:lastModifiedBy/>
  <dcterms:modified xsi:type="dcterms:W3CDTF">2025-06-24T18:48:38Z</dcterms:modified>
  <cp:revision>24</cp:revision>
  <dc:subject/>
  <dc:title>Apresentação do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0x010100650F1AF5666F31418BB73834C1BAAB8D</vt:lpwstr>
  </property>
  <property fmtid="{D5CDD505-2E9C-101B-9397-08002B2CF9AE}" pid="3" name="Notes">
    <vt:i4>14</vt:i4>
  </property>
  <property fmtid="{D5CDD505-2E9C-101B-9397-08002B2CF9AE}" pid="4" name="PresentationFormat">
    <vt:lpwstr>Widescreen</vt:lpwstr>
  </property>
  <property fmtid="{D5CDD505-2E9C-101B-9397-08002B2CF9AE}" pid="5" name="Slides">
    <vt:i4>14</vt:i4>
  </property>
</Properties>
</file>
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3"/>
  </p:sldMasterIdLst>
  <p:notesMasterIdLst>
    <p:notesMasterId r:id="rId18"/>
  </p:notes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72" r:id="rId12"/>
    <p:sldId id="275" r:id="rId13"/>
    <p:sldId id="276" r:id="rId14"/>
    <p:sldId id="277" r:id="rId15"/>
    <p:sldId id="273" r:id="rId16"/>
    <p:sldId id="27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yJ1IijKKsXfHi0BCUUJGRO1z5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736680e3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2e736680e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a54814955_2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g2da54814955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a54814955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 b="1"/>
              <a:t>JAQUE</a:t>
            </a:r>
            <a:endParaRPr sz="2200" b="1"/>
          </a:p>
        </p:txBody>
      </p:sp>
      <p:sp>
        <p:nvSpPr>
          <p:cNvPr id="95" name="Google Shape;95;g2da54814955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a54814955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b="1"/>
              <a:t>DANI</a:t>
            </a:r>
            <a:endParaRPr sz="2000" b="1"/>
          </a:p>
        </p:txBody>
      </p:sp>
      <p:sp>
        <p:nvSpPr>
          <p:cNvPr id="110" name="Google Shape;110;g2da54814955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a54814955_3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b="1"/>
              <a:t>STHE</a:t>
            </a:r>
            <a:endParaRPr sz="2000" b="1"/>
          </a:p>
        </p:txBody>
      </p:sp>
      <p:sp>
        <p:nvSpPr>
          <p:cNvPr id="122" name="Google Shape;122;g2da54814955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a54814955_3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b="1"/>
              <a:t>JAQUE</a:t>
            </a:r>
            <a:endParaRPr sz="2000" b="1"/>
          </a:p>
        </p:txBody>
      </p:sp>
      <p:sp>
        <p:nvSpPr>
          <p:cNvPr id="134" name="Google Shape;134;g2da54814955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a54814955_3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/>
              <a:t>DANI</a:t>
            </a:r>
            <a:endParaRPr/>
          </a:p>
        </p:txBody>
      </p:sp>
      <p:sp>
        <p:nvSpPr>
          <p:cNvPr id="146" name="Google Shape;146;g2da54814955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7b80749c1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b="1"/>
              <a:t>JAQUE</a:t>
            </a:r>
            <a:endParaRPr sz="1400"/>
          </a:p>
        </p:txBody>
      </p:sp>
      <p:sp>
        <p:nvSpPr>
          <p:cNvPr id="271" name="Google Shape;271;g2e7b80749c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a54814955_3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/>
              <a:t>STHE</a:t>
            </a:r>
            <a:endParaRPr/>
          </a:p>
        </p:txBody>
      </p:sp>
      <p:sp>
        <p:nvSpPr>
          <p:cNvPr id="282" name="Google Shape;282;g2da54814955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524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a54814955_3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/>
              <a:t>STHE</a:t>
            </a:r>
            <a:endParaRPr/>
          </a:p>
        </p:txBody>
      </p:sp>
      <p:sp>
        <p:nvSpPr>
          <p:cNvPr id="282" name="Google Shape;282;g2da54814955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4154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a54814955_3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/>
              <a:t>STHE</a:t>
            </a:r>
            <a:endParaRPr/>
          </a:p>
        </p:txBody>
      </p:sp>
      <p:sp>
        <p:nvSpPr>
          <p:cNvPr id="282" name="Google Shape;282;g2da54814955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9688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a54814955_3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/>
              <a:t>STHE</a:t>
            </a:r>
            <a:endParaRPr/>
          </a:p>
        </p:txBody>
      </p:sp>
      <p:sp>
        <p:nvSpPr>
          <p:cNvPr id="282" name="Google Shape;282;g2da54814955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da54814955_3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b="1"/>
              <a:t>STHE</a:t>
            </a:r>
            <a:endParaRPr sz="1400"/>
          </a:p>
        </p:txBody>
      </p:sp>
      <p:sp>
        <p:nvSpPr>
          <p:cNvPr id="295" name="Google Shape;295;g2da54814955_3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descr="GGFD2166TRA Raw.tif"/>
          <p:cNvPicPr preferRelativeResize="0"/>
          <p:nvPr/>
        </p:nvPicPr>
        <p:blipFill rotWithShape="1">
          <a:blip r:embed="rId2">
            <a:alphaModFix/>
          </a:blip>
          <a:srcRect l="361" t="2150" r="9181" b="11113"/>
          <a:stretch/>
        </p:blipFill>
        <p:spPr>
          <a:xfrm>
            <a:off x="-1" y="0"/>
            <a:ext cx="12192001" cy="5949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64278"/>
            <a:ext cx="12192000" cy="139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 de título">
  <p:cSld name="1_Slide de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 descr="GGFD2166TRA Raw.tif"/>
          <p:cNvPicPr preferRelativeResize="0"/>
          <p:nvPr/>
        </p:nvPicPr>
        <p:blipFill rotWithShape="1">
          <a:blip r:embed="rId2">
            <a:alphaModFix/>
          </a:blip>
          <a:srcRect l="361" t="2151" r="9181" b="13213"/>
          <a:stretch/>
        </p:blipFill>
        <p:spPr>
          <a:xfrm>
            <a:off x="-1" y="0"/>
            <a:ext cx="12192001" cy="58052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65171"/>
            <a:ext cx="12192000" cy="139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3" name="Google Shape;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64840"/>
            <a:ext cx="12192000" cy="139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361183" y="59618"/>
            <a:ext cx="6993345" cy="86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1"/>
          <p:cNvSpPr/>
          <p:nvPr/>
        </p:nvSpPr>
        <p:spPr>
          <a:xfrm>
            <a:off x="263350" y="6223625"/>
            <a:ext cx="115026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374168" y="516619"/>
            <a:ext cx="1478400" cy="86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D39A72-CFC0-451A-9314-332CAF8D8A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164" t="34755" r="15816" b="19973"/>
          <a:stretch/>
        </p:blipFill>
        <p:spPr>
          <a:xfrm>
            <a:off x="3678643" y="2407446"/>
            <a:ext cx="4672013" cy="2043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736680e3d_0_0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2e736680e3d_0_0"/>
          <p:cNvSpPr/>
          <p:nvPr/>
        </p:nvSpPr>
        <p:spPr>
          <a:xfrm>
            <a:off x="361183" y="59618"/>
            <a:ext cx="69933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2e736680e3d_0_0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2e736680e3d_0_0"/>
          <p:cNvSpPr/>
          <p:nvPr/>
        </p:nvSpPr>
        <p:spPr>
          <a:xfrm>
            <a:off x="4799856" y="1823363"/>
            <a:ext cx="6336600" cy="30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Caio da Mata Martins</a:t>
            </a: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caio.martisn11</a:t>
            </a:r>
            <a:r>
              <a:rPr lang="pt-BR" sz="2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@fatec.sp.gov.br</a:t>
            </a: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Orientador(a)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Rubens Araújo Menezes de Souza Filho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2e736680e3d_0_0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lang="pt-BR"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2e736680e3d_0_0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g2e736680e3d_0_0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B169670-CAFC-4821-8533-3D7F4D6460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663" b="14675"/>
          <a:stretch/>
        </p:blipFill>
        <p:spPr>
          <a:xfrm>
            <a:off x="1113368" y="1689959"/>
            <a:ext cx="2439844" cy="3498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a54814955_2_46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2da54814955_2_46"/>
          <p:cNvSpPr/>
          <p:nvPr/>
        </p:nvSpPr>
        <p:spPr>
          <a:xfrm>
            <a:off x="361184" y="59618"/>
            <a:ext cx="8257516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g2da54814955_2_46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g2da54814955_2_46"/>
          <p:cNvSpPr/>
          <p:nvPr/>
        </p:nvSpPr>
        <p:spPr>
          <a:xfrm>
            <a:off x="4799856" y="1823363"/>
            <a:ext cx="6336600" cy="30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Vinícius Venâncio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@fatec.sp.gov.br</a:t>
            </a: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Orientador(a)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Rubens Araújo Menezes de Souza Filho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a54814955_2_46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a54814955_2_46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g2da54814955_2_46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a54814955_1_4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2da54814955_1_4"/>
          <p:cNvSpPr/>
          <p:nvPr/>
        </p:nvSpPr>
        <p:spPr>
          <a:xfrm>
            <a:off x="361183" y="59618"/>
            <a:ext cx="7052339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g2da54814955_1_4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g2da54814955_1_4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2da54814955_1_4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2da54814955_1_4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da54814955_1_4"/>
          <p:cNvSpPr txBox="1"/>
          <p:nvPr/>
        </p:nvSpPr>
        <p:spPr>
          <a:xfrm>
            <a:off x="361175" y="2099550"/>
            <a:ext cx="2715600" cy="2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240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Pesquisa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2da54814955_1_4"/>
          <p:cNvSpPr txBox="1"/>
          <p:nvPr/>
        </p:nvSpPr>
        <p:spPr>
          <a:xfrm>
            <a:off x="374175" y="1360650"/>
            <a:ext cx="779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sz="3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2da54814955_1_4"/>
          <p:cNvSpPr txBox="1"/>
          <p:nvPr/>
        </p:nvSpPr>
        <p:spPr>
          <a:xfrm>
            <a:off x="4180803" y="2114722"/>
            <a:ext cx="3830393" cy="2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Funcionamento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Proporção dos materiais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álculos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2da54814955_1_4"/>
          <p:cNvSpPr txBox="1"/>
          <p:nvPr/>
        </p:nvSpPr>
        <p:spPr>
          <a:xfrm>
            <a:off x="8793275" y="2099550"/>
            <a:ext cx="2973900" cy="2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Possíveis Melhorias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a54814955_1_37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2da54814955_1_37"/>
          <p:cNvSpPr/>
          <p:nvPr/>
        </p:nvSpPr>
        <p:spPr>
          <a:xfrm>
            <a:off x="361184" y="59618"/>
            <a:ext cx="7022842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g2da54814955_1_37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2da54814955_1_37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2da54814955_1_37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2da54814955_1_37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da54814955_1_37"/>
          <p:cNvSpPr txBox="1"/>
          <p:nvPr/>
        </p:nvSpPr>
        <p:spPr>
          <a:xfrm>
            <a:off x="374175" y="2099550"/>
            <a:ext cx="113919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segurança residencial na atualidade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Teoria do Prospecto-refúgio (APPLETON, 1975)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Teoria da Janela-quebrada  (WILSON; KELLING, 19</a:t>
            </a: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82)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Teoria do Olho na Rua (JACOBS, 1961</a:t>
            </a: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</a:t>
            </a: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(Internet das Coisas)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Atalaia?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2da54814955_1_37"/>
          <p:cNvSpPr txBox="1"/>
          <p:nvPr/>
        </p:nvSpPr>
        <p:spPr>
          <a:xfrm>
            <a:off x="374175" y="1360650"/>
            <a:ext cx="779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3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a54814955_3_5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2da54814955_3_5"/>
          <p:cNvSpPr/>
          <p:nvPr/>
        </p:nvSpPr>
        <p:spPr>
          <a:xfrm>
            <a:off x="361184" y="59618"/>
            <a:ext cx="7170326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2da54814955_3_5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g2da54814955_3_5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2da54814955_3_5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2da54814955_3_5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2da54814955_3_5"/>
          <p:cNvSpPr txBox="1"/>
          <p:nvPr/>
        </p:nvSpPr>
        <p:spPr>
          <a:xfrm>
            <a:off x="374175" y="1360650"/>
            <a:ext cx="779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F111C-764E-4C06-BF8D-CC21F1329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2" y="1730100"/>
            <a:ext cx="1103179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facilitar o cálculo de materiais de construção, reduzindo desperdícios e otimizando recursos?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orma simples para criação de plantas baixas e poder tornar o planejamento acessível para todos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rmazenar e reutilizar projetos de maneira eficiente para garantir a continuidade do trabalho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a54814955_3_16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2da54814955_3_16"/>
          <p:cNvSpPr/>
          <p:nvPr/>
        </p:nvSpPr>
        <p:spPr>
          <a:xfrm>
            <a:off x="361184" y="59618"/>
            <a:ext cx="749479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2da54814955_3_16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g2da54814955_3_16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2da54814955_3_16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2da54814955_3_16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da54814955_3_16"/>
          <p:cNvSpPr txBox="1"/>
          <p:nvPr/>
        </p:nvSpPr>
        <p:spPr>
          <a:xfrm>
            <a:off x="374168" y="1299270"/>
            <a:ext cx="779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Gerais</a:t>
            </a:r>
            <a:endParaRPr sz="3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4B4A5-2FA5-4795-B5C7-44CED4AFDD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5609" y="1675936"/>
            <a:ext cx="1025808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Desenvolver uma ferramenta intuitiva para criação de plantas baixas simples.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Automatizar o cálculo de materiais necessários, considerando áreas específicas como portas e janelas.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Permitir o armazenamento e carregamento de projetos, garantindo continuidade e acessibilidade.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a54814955_3_28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da54814955_3_28"/>
          <p:cNvSpPr/>
          <p:nvPr/>
        </p:nvSpPr>
        <p:spPr>
          <a:xfrm>
            <a:off x="361184" y="59618"/>
            <a:ext cx="7396468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g2da54814955_3_28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g2da54814955_3_28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2da54814955_3_28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g2da54814955_3_28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2da54814955_3_28"/>
          <p:cNvSpPr txBox="1"/>
          <p:nvPr/>
        </p:nvSpPr>
        <p:spPr>
          <a:xfrm>
            <a:off x="374175" y="2099550"/>
            <a:ext cx="113919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</a:t>
            </a: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 de login e autenticação</a:t>
            </a:r>
            <a:endParaRPr sz="3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desenho de plantas baixas utilizando HTML e </a:t>
            </a:r>
            <a:r>
              <a:rPr lang="pt-BR" sz="3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3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 para armazenar projetos e </a:t>
            </a:r>
            <a:r>
              <a:rPr lang="pt-BR" sz="3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 de cálculo de materiais para construção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para salvar, carregar e editar projetos com coordenadas de linhas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a54814955_3_28"/>
          <p:cNvSpPr txBox="1"/>
          <p:nvPr/>
        </p:nvSpPr>
        <p:spPr>
          <a:xfrm>
            <a:off x="374175" y="1360650"/>
            <a:ext cx="779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7b80749c1_2_0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e7b80749c1_2_0"/>
          <p:cNvSpPr/>
          <p:nvPr/>
        </p:nvSpPr>
        <p:spPr>
          <a:xfrm>
            <a:off x="361184" y="59618"/>
            <a:ext cx="6816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2e7b80749c1_2_0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g2e7b80749c1_2_0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2e7b80749c1_2_0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2e7b80749c1_2_0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2e7b80749c1_2_0"/>
          <p:cNvSpPr txBox="1"/>
          <p:nvPr/>
        </p:nvSpPr>
        <p:spPr>
          <a:xfrm>
            <a:off x="418650" y="3005700"/>
            <a:ext cx="11354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pt-BR" sz="4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Demonstração</a:t>
            </a:r>
            <a:endParaRPr sz="4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a54814955_3_58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da54814955_3_58"/>
          <p:cNvSpPr/>
          <p:nvPr/>
        </p:nvSpPr>
        <p:spPr>
          <a:xfrm>
            <a:off x="361184" y="59618"/>
            <a:ext cx="6895022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2da54814955_3_58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g2da54814955_3_58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da54814955_3_58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2da54814955_3_58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da54814955_3_58"/>
          <p:cNvSpPr txBox="1"/>
          <p:nvPr/>
        </p:nvSpPr>
        <p:spPr>
          <a:xfrm>
            <a:off x="911197" y="2099283"/>
            <a:ext cx="6882031" cy="2796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Desenho com </a:t>
            </a:r>
            <a:r>
              <a:rPr lang="pt-BR" sz="3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Canvas</a:t>
            </a:r>
            <a:endParaRPr lang="pt-BR"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da distancia entre os pontos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dos materiais com base na área da parede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Portabilidade do projeto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2da54814955_3_58"/>
          <p:cNvSpPr txBox="1"/>
          <p:nvPr/>
        </p:nvSpPr>
        <p:spPr>
          <a:xfrm>
            <a:off x="374174" y="1360650"/>
            <a:ext cx="928417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596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a54814955_3_58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da54814955_3_58"/>
          <p:cNvSpPr/>
          <p:nvPr/>
        </p:nvSpPr>
        <p:spPr>
          <a:xfrm>
            <a:off x="361184" y="59618"/>
            <a:ext cx="6895022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2da54814955_3_58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g2da54814955_3_58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da54814955_3_58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2da54814955_3_58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da54814955_3_58"/>
          <p:cNvSpPr txBox="1"/>
          <p:nvPr/>
        </p:nvSpPr>
        <p:spPr>
          <a:xfrm>
            <a:off x="801285" y="1875456"/>
            <a:ext cx="9284175" cy="404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entre 2 pontos (com coordenadas)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comprimento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Math.sqrt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Math.pow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(endX-startX,2)+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Math.pow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(endY-startY,2)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Conversão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de Pixels para M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</a:t>
            </a:r>
            <a:r>
              <a:rPr lang="en-US" b="0" dirty="0" err="1">
                <a:solidFill>
                  <a:srgbClr val="00206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omprimento</a:t>
            </a:r>
            <a:r>
              <a:rPr lang="en-US" b="0" dirty="0">
                <a:solidFill>
                  <a:srgbClr val="00206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/ </a:t>
            </a:r>
            <a:r>
              <a:rPr lang="en-US" b="0" dirty="0" err="1">
                <a:solidFill>
                  <a:srgbClr val="00206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tamanhoQuadrado</a:t>
            </a:r>
            <a:endParaRPr lang="en-US" b="0" dirty="0">
              <a:solidFill>
                <a:srgbClr val="00206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dirty="0">
              <a:solidFill>
                <a:srgbClr val="00206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Calculo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área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das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Aberturas</a:t>
            </a:r>
            <a:endParaRPr lang="en-US" sz="28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SzPts val="3200"/>
            </a:pP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areaTotalAberturas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+= largura * altura * quantidade</a:t>
            </a:r>
          </a:p>
          <a:p>
            <a:pPr>
              <a:buSzPts val="3200"/>
            </a:pPr>
            <a:endParaRPr lang="pt-BR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285750" indent="-285750">
              <a:buSzPts val="3200"/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Cálculo dos Blocos</a:t>
            </a:r>
          </a:p>
          <a:p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areaTotalAberturas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calcularAreaAberturas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areaParede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calcularComprimentoParede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alturaParede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areaTotalAberturas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areaBloco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dimensoesBloco.comprimento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dimensoesBloco.altura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numeroBlocos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Math.ceil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areaParede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areaBloco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285750" indent="-285750">
              <a:buSzPts val="3200"/>
              <a:buFont typeface="Arial" panose="020B0604020202020204" pitchFamily="34" charset="0"/>
              <a:buChar char="•"/>
            </a:pPr>
            <a:endParaRPr lang="pt-BR" sz="2800" b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ts val="3200"/>
            </a:pPr>
            <a:endParaRPr lang="pt-BR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>
              <a:buSzPts val="3200"/>
            </a:pPr>
            <a:endParaRPr lang="pt-BR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>
              <a:buSzPts val="3200"/>
            </a:pPr>
            <a:endParaRPr lang="pt-BR" sz="3000" b="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chemeClr val="tx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rgbClr val="00206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2da54814955_3_58"/>
          <p:cNvSpPr txBox="1"/>
          <p:nvPr/>
        </p:nvSpPr>
        <p:spPr>
          <a:xfrm>
            <a:off x="374174" y="1360650"/>
            <a:ext cx="928417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Cálculos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025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a54814955_3_58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da54814955_3_58"/>
          <p:cNvSpPr/>
          <p:nvPr/>
        </p:nvSpPr>
        <p:spPr>
          <a:xfrm>
            <a:off x="361184" y="59618"/>
            <a:ext cx="6895022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2da54814955_3_58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g2da54814955_3_58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da54814955_3_58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2da54814955_3_58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da54814955_3_58"/>
          <p:cNvSpPr txBox="1"/>
          <p:nvPr/>
        </p:nvSpPr>
        <p:spPr>
          <a:xfrm>
            <a:off x="801285" y="1875456"/>
            <a:ext cx="9284175" cy="404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de sacos de cimento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sacosCimento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(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numBlocos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blocosPorSaco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Cálculo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de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areia</a:t>
            </a:r>
            <a:endParaRPr lang="en-US" sz="28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areiaPorM3 =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areaParede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areiaPorBloco</a:t>
            </a:r>
            <a:endParaRPr lang="pt-BR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dirty="0">
              <a:solidFill>
                <a:srgbClr val="00206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Cálculo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de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água</a:t>
            </a:r>
            <a:endParaRPr lang="en-US" sz="28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aguaLitros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pt-B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sacosCimento</a:t>
            </a:r>
            <a:r>
              <a:rPr lang="pt-B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* 50) * 0.5</a:t>
            </a:r>
          </a:p>
          <a:p>
            <a:pPr>
              <a:buSzPts val="3200"/>
            </a:pPr>
            <a:endParaRPr lang="pt-BR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SzPts val="3200"/>
              <a:buFont typeface="Arial" panose="020B0604020202020204" pitchFamily="34" charset="0"/>
              <a:buChar char="•"/>
            </a:pPr>
            <a:endParaRPr lang="pt-BR" sz="2800" b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ts val="3200"/>
            </a:pPr>
            <a:endParaRPr lang="pt-BR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>
              <a:buSzPts val="3200"/>
            </a:pPr>
            <a:endParaRPr lang="pt-BR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>
              <a:buSzPts val="3200"/>
            </a:pPr>
            <a:endParaRPr lang="pt-BR" sz="3000" b="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chemeClr val="tx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lang="en-US" b="0" dirty="0">
              <a:solidFill>
                <a:srgbClr val="00206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2da54814955_3_58"/>
          <p:cNvSpPr txBox="1"/>
          <p:nvPr/>
        </p:nvSpPr>
        <p:spPr>
          <a:xfrm>
            <a:off x="374174" y="1360650"/>
            <a:ext cx="928417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Cálculos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0376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a54814955_3_58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da54814955_3_58"/>
          <p:cNvSpPr/>
          <p:nvPr/>
        </p:nvSpPr>
        <p:spPr>
          <a:xfrm>
            <a:off x="361184" y="59618"/>
            <a:ext cx="6895022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2da54814955_3_58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g2da54814955_3_58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da54814955_3_58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2da54814955_3_58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da54814955_3_58"/>
          <p:cNvSpPr txBox="1"/>
          <p:nvPr/>
        </p:nvSpPr>
        <p:spPr>
          <a:xfrm>
            <a:off x="439800" y="2632950"/>
            <a:ext cx="56562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Informações mais claras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Personalizar mensagens de erros	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endParaRPr lang="pt-BR"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2da54814955_3_58"/>
          <p:cNvSpPr txBox="1"/>
          <p:nvPr/>
        </p:nvSpPr>
        <p:spPr>
          <a:xfrm>
            <a:off x="374174" y="1360650"/>
            <a:ext cx="11378026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Possíveis Melhorias 	 &amp;	  Futuras Implementaç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ões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2da54814955_3_58"/>
          <p:cNvSpPr txBox="1"/>
          <p:nvPr/>
        </p:nvSpPr>
        <p:spPr>
          <a:xfrm>
            <a:off x="6096000" y="2632950"/>
            <a:ext cx="56562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pt-BR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Demais páginas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a54814955_3_80"/>
          <p:cNvSpPr/>
          <p:nvPr/>
        </p:nvSpPr>
        <p:spPr>
          <a:xfrm>
            <a:off x="-9875" y="6223625"/>
            <a:ext cx="12192000" cy="708000"/>
          </a:xfrm>
          <a:prstGeom prst="rect">
            <a:avLst/>
          </a:prstGeom>
          <a:gradFill>
            <a:gsLst>
              <a:gs pos="0">
                <a:srgbClr val="6F0805"/>
              </a:gs>
              <a:gs pos="50000">
                <a:srgbClr val="A20C07"/>
              </a:gs>
              <a:gs pos="100000">
                <a:srgbClr val="C20F0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2da54814955_3_80"/>
          <p:cNvSpPr/>
          <p:nvPr/>
        </p:nvSpPr>
        <p:spPr>
          <a:xfrm>
            <a:off x="361184" y="59618"/>
            <a:ext cx="6816364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de Graduação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g2da54814955_3_80"/>
          <p:cNvCxnSpPr/>
          <p:nvPr/>
        </p:nvCxnSpPr>
        <p:spPr>
          <a:xfrm>
            <a:off x="0" y="1211746"/>
            <a:ext cx="8618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g2da54814955_3_80"/>
          <p:cNvSpPr/>
          <p:nvPr/>
        </p:nvSpPr>
        <p:spPr>
          <a:xfrm>
            <a:off x="263350" y="6223625"/>
            <a:ext cx="11502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 – Desenho de plantas com calculadora integrada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da54814955_3_80"/>
          <p:cNvSpPr/>
          <p:nvPr/>
        </p:nvSpPr>
        <p:spPr>
          <a:xfrm>
            <a:off x="374168" y="516619"/>
            <a:ext cx="14784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2024.2</a:t>
            </a:r>
            <a:endParaRPr sz="3600" b="1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g2da54814955_3_80" descr="Resultado de imagem para fatec sÃ£o r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0264" y="80325"/>
            <a:ext cx="3830393" cy="143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2da54814955_3_80"/>
          <p:cNvSpPr txBox="1"/>
          <p:nvPr/>
        </p:nvSpPr>
        <p:spPr>
          <a:xfrm>
            <a:off x="408775" y="3085075"/>
            <a:ext cx="11354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pt-BR" sz="4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Agradecimentos</a:t>
            </a:r>
            <a:endParaRPr sz="4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FF1C3B01986C4AB66F7E0E56356C01" ma:contentTypeVersion="11" ma:contentTypeDescription="Crie um novo documento." ma:contentTypeScope="" ma:versionID="af482a0aabf7c547265ff130ccaba13b">
  <xsd:schema xmlns:xsd="http://www.w3.org/2001/XMLSchema" xmlns:xs="http://www.w3.org/2001/XMLSchema" xmlns:p="http://schemas.microsoft.com/office/2006/metadata/properties" xmlns:ns2="3ebb2073-bbac-4e65-95c8-88d8ed2afb4f" xmlns:ns3="327f734b-3a97-4388-9df9-8c80004d5538" targetNamespace="http://schemas.microsoft.com/office/2006/metadata/properties" ma:root="true" ma:fieldsID="05903f2cd1a279f8be69cab4e233febb" ns2:_="" ns3:_="">
    <xsd:import namespace="3ebb2073-bbac-4e65-95c8-88d8ed2afb4f"/>
    <xsd:import namespace="327f734b-3a97-4388-9df9-8c80004d55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b2073-bbac-4e65-95c8-88d8ed2afb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7f734b-3a97-4388-9df9-8c80004d55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061b1b5-4947-4ea0-9c80-6445be4b01df}" ma:internalName="TaxCatchAll" ma:showField="CatchAllData" ma:web="327f734b-3a97-4388-9df9-8c80004d55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C657C9-A2D7-4463-A2AA-250C9EC26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bb2073-bbac-4e65-95c8-88d8ed2afb4f"/>
    <ds:schemaRef ds:uri="327f734b-3a97-4388-9df9-8c80004d55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B4A0ED-F809-4F6A-8E94-EBCDF08965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585</Words>
  <Application>Microsoft Office PowerPoint</Application>
  <PresentationFormat>Widescreen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Adriana Paula Borges</dc:creator>
  <cp:lastModifiedBy>Caio Martins</cp:lastModifiedBy>
  <cp:revision>17</cp:revision>
  <dcterms:created xsi:type="dcterms:W3CDTF">2013-10-10T17:31:52Z</dcterms:created>
  <dcterms:modified xsi:type="dcterms:W3CDTF">2024-12-01T21:12:03Z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0x010100650F1AF5666F31418BB73834C1BAAB8D</vt:lpwstr>
  </property>
</Properties>
</file>